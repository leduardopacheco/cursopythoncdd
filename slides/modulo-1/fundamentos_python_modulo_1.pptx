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pt-BR" sz="1800" spc="-1" strike="noStrike">
                <a:solidFill>
                  <a:srgbClr val="000000"/>
                </a:solidFill>
                <a:latin typeface="Aptos"/>
              </a:rPr>
              <a:t>Clique para mover o slide</a:t>
            </a:r>
            <a:endParaRPr b="0" lang="pt-BR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Clique para editar o formato de notas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D1C8610-9F08-4BAD-A52F-1FA58DF27F63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F2664EE-20AF-4C8D-9F8C-DD2CE90BCE5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C3BE900-C5CB-4CA0-9EBC-A1C80EDE31F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CBF49B5-1C12-46EE-9859-BCA83A4B905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A6ECEA8-7616-4F97-8D99-D18385EF283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F393493-D862-4820-AAE2-ABBB6F2E27D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AE5FD13-54B6-469E-923E-81C1713383EE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CA17498-6C53-4463-83C3-718BDA7E9DF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216000" indent="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0618080-4E84-404B-B402-6F5E52A55ED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8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pt-BR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ptos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pto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ptos"/>
              </a:rPr>
              <a:t>Clique para editar o formato de texto dos tópicos</a:t>
            </a:r>
            <a:endParaRPr b="0" lang="pt-BR" sz="3200" spc="-1" strike="noStrike">
              <a:solidFill>
                <a:srgbClr val="000000"/>
              </a:solidFill>
              <a:latin typeface="Aptos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pc="-1" strike="noStrike">
                <a:solidFill>
                  <a:srgbClr val="000000"/>
                </a:solidFill>
                <a:latin typeface="Aptos"/>
              </a:rPr>
              <a:t>2.º nível de tópicos</a:t>
            </a:r>
            <a:endParaRPr b="0" lang="pt-BR" sz="2400" spc="-1" strike="noStrike">
              <a:solidFill>
                <a:srgbClr val="000000"/>
              </a:solidFill>
              <a:latin typeface="Aptos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ptos"/>
              </a:rPr>
              <a:t>3.º nível de tópicos</a:t>
            </a:r>
            <a:endParaRPr b="0" lang="pt-BR" sz="2000" spc="-1" strike="noStrike">
              <a:solidFill>
                <a:srgbClr val="000000"/>
              </a:solidFill>
              <a:latin typeface="Aptos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pc="-1" strike="noStrike">
                <a:solidFill>
                  <a:srgbClr val="000000"/>
                </a:solidFill>
                <a:latin typeface="Aptos"/>
              </a:rPr>
              <a:t>4.º nível de tópicos</a:t>
            </a:r>
            <a:endParaRPr b="0" lang="pt-BR" sz="2000" spc="-1" strike="noStrike">
              <a:solidFill>
                <a:srgbClr val="000000"/>
              </a:solidFill>
              <a:latin typeface="Aptos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ptos"/>
              </a:rPr>
              <a:t>5.º nível de tópicos</a:t>
            </a:r>
            <a:endParaRPr b="0" lang="pt-BR" sz="2000" spc="-1" strike="noStrike">
              <a:solidFill>
                <a:srgbClr val="000000"/>
              </a:solidFill>
              <a:latin typeface="Aptos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ptos"/>
              </a:rPr>
              <a:t>6.º nível de tópicos</a:t>
            </a:r>
            <a:endParaRPr b="0" lang="pt-BR" sz="2000" spc="-1" strike="noStrike">
              <a:solidFill>
                <a:srgbClr val="000000"/>
              </a:solidFill>
              <a:latin typeface="Aptos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ptos"/>
              </a:rPr>
              <a:t>7.º nível de tópicos</a:t>
            </a:r>
            <a:endParaRPr b="0" lang="pt-BR" sz="2000" spc="-1" strike="noStrike">
              <a:solidFill>
                <a:srgbClr val="000000"/>
              </a:solidFill>
              <a:latin typeface="Apto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0"/>
          <p:cNvSpPr/>
          <p:nvPr/>
        </p:nvSpPr>
        <p:spPr>
          <a:xfrm>
            <a:off x="868680" y="1051560"/>
            <a:ext cx="6217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7375e"/>
                </a:solidFill>
                <a:latin typeface="Aptos Display"/>
                <a:ea typeface="Aptos Display"/>
              </a:rPr>
              <a:t>Python para Ciencia de Dados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896040" y="1627560"/>
            <a:ext cx="53031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2f5597"/>
                </a:solidFill>
                <a:latin typeface="Aptos"/>
              </a:rPr>
              <a:t>Modulo 1 - Fundamentos de Python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2"/>
          <p:cNvSpPr/>
          <p:nvPr/>
        </p:nvSpPr>
        <p:spPr>
          <a:xfrm>
            <a:off x="914400" y="2039040"/>
            <a:ext cx="43887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b7280"/>
                </a:solidFill>
                <a:latin typeface="Aptos"/>
              </a:rPr>
              <a:t>Material introdutorio para a primeira aula do curso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3"/>
          <p:cNvSpPr/>
          <p:nvPr/>
        </p:nvSpPr>
        <p:spPr>
          <a:xfrm>
            <a:off x="896040" y="2743200"/>
            <a:ext cx="22856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7375e"/>
                </a:solidFill>
                <a:latin typeface="Aptos"/>
              </a:rPr>
              <a:t>Conteudos desta aula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914400" y="3044880"/>
            <a:ext cx="4388760" cy="171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f1f1f"/>
                </a:solidFill>
                <a:latin typeface="Aptos"/>
              </a:rPr>
              <a:t>Sintaxe basica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f1f1f"/>
                </a:solidFill>
                <a:latin typeface="Aptos"/>
              </a:rPr>
              <a:t>Variaveis e tipos de dados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f1f1f"/>
                </a:solidFill>
                <a:latin typeface="Aptos"/>
              </a:rPr>
              <a:t>Condicionais e repeticao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f1f1f"/>
                </a:solidFill>
                <a:latin typeface="Aptos"/>
              </a:rPr>
              <a:t>Listas e dicionarios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700" spc="-1" strike="noStrike">
                <a:solidFill>
                  <a:srgbClr val="1f1f1f"/>
                </a:solidFill>
                <a:latin typeface="Aptos"/>
              </a:rPr>
              <a:t>Boas praticas</a:t>
            </a:r>
            <a:endParaRPr b="0" lang="pt-B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5"/>
          <p:cNvSpPr/>
          <p:nvPr/>
        </p:nvSpPr>
        <p:spPr>
          <a:xfrm>
            <a:off x="6492240" y="2057400"/>
            <a:ext cx="4297320" cy="1325520"/>
          </a:xfrm>
          <a:prstGeom prst="rect">
            <a:avLst/>
          </a:prstGeom>
          <a:solidFill>
            <a:srgbClr val="333333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ctr">
            <a:noAutofit/>
          </a:bodyPr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1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print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"Ola, mundo!"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)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2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nome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"Ana"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3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idade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18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6"/>
          <p:cNvSpPr/>
          <p:nvPr/>
        </p:nvSpPr>
        <p:spPr>
          <a:xfrm>
            <a:off x="6492240" y="3794760"/>
            <a:ext cx="4297320" cy="1645560"/>
          </a:xfrm>
          <a:prstGeom prst="rect">
            <a:avLst/>
          </a:prstGeom>
          <a:solidFill>
            <a:srgbClr val="333333"/>
          </a:solidFill>
          <a:ln w="0">
            <a:solidFill>
              <a:srgbClr val="d5dde5"/>
            </a:solidFill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ctr">
            <a:noAutofit/>
          </a:bodyPr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1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if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idade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&gt;=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18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: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2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print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"Maior de idade"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)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3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else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: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4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print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"Menor de idade"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)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7"/>
          <p:cNvSpPr/>
          <p:nvPr/>
        </p:nvSpPr>
        <p:spPr>
          <a:xfrm>
            <a:off x="640080" y="6419160"/>
            <a:ext cx="3657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Aptos"/>
              </a:rPr>
              <a:t>Modulo 1 - Fundamentos de Python | Slide 1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640080" y="384120"/>
            <a:ext cx="9509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7375e"/>
                </a:solidFill>
                <a:latin typeface="Aptos Display"/>
                <a:ea typeface="Aptos Display"/>
              </a:rPr>
              <a:t>Objetivos da aula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658440" y="822960"/>
            <a:ext cx="74977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b7280"/>
                </a:solidFill>
                <a:latin typeface="Aptos"/>
              </a:rPr>
              <a:t>Ao final do modulo, o aluno deve dominar a base da linguagem.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640080" y="1078920"/>
            <a:ext cx="10789920" cy="360"/>
          </a:xfrm>
          <a:prstGeom prst="line">
            <a:avLst/>
          </a:prstGeom>
          <a:ln w="12700">
            <a:solidFill>
              <a:srgbClr val="dcea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3"/>
          <p:cNvSpPr/>
          <p:nvPr/>
        </p:nvSpPr>
        <p:spPr>
          <a:xfrm>
            <a:off x="822960" y="1554480"/>
            <a:ext cx="5486040" cy="171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900" spc="-1" strike="noStrike">
                <a:solidFill>
                  <a:srgbClr val="1f1f1f"/>
                </a:solidFill>
                <a:latin typeface="Aptos"/>
              </a:rPr>
              <a:t>Entender o que e Python e onde executar codigo.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900" spc="-1" strike="noStrike">
                <a:solidFill>
                  <a:srgbClr val="1f1f1f"/>
                </a:solidFill>
                <a:latin typeface="Aptos"/>
              </a:rPr>
              <a:t>Criar variaveis e reconhecer tipos basicos.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900" spc="-1" strike="noStrike">
                <a:solidFill>
                  <a:srgbClr val="1f1f1f"/>
                </a:solidFill>
                <a:latin typeface="Aptos"/>
              </a:rPr>
              <a:t>Usar operadores, condicionais e lacos.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900" spc="-1" strike="noStrike">
                <a:solidFill>
                  <a:srgbClr val="1f1f1f"/>
                </a:solidFill>
                <a:latin typeface="Aptos"/>
              </a:rPr>
              <a:t>Manipular listas e dicionarios.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900" spc="-1" strike="noStrike">
                <a:solidFill>
                  <a:srgbClr val="1f1f1f"/>
                </a:solidFill>
                <a:latin typeface="Aptos"/>
              </a:rPr>
              <a:t>Resolver pequenos problemas com logica de programacao.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6583680" y="1554480"/>
            <a:ext cx="18284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7375e"/>
                </a:solidFill>
                <a:latin typeface="Aptos"/>
              </a:rPr>
              <a:t>Fluxo da aula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6583680" y="1874520"/>
            <a:ext cx="3382920" cy="1416960"/>
          </a:xfrm>
          <a:prstGeom prst="rect">
            <a:avLst/>
          </a:prstGeom>
          <a:solidFill>
            <a:srgbClr val="333333"/>
          </a:solidFill>
          <a:ln w="0">
            <a:solidFill>
              <a:srgbClr val="dceaf7"/>
            </a:solidFill>
          </a:ln>
        </p:spPr>
        <p:style>
          <a:lnRef idx="0"/>
          <a:fillRef idx="0"/>
          <a:effectRef idx="0"/>
          <a:fontRef idx="minor"/>
        </p:style>
        <p:txBody>
          <a:bodyPr lIns="1080" rIns="1080" tIns="1080" bIns="108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000000"/>
                </a:solidFill>
                <a:latin typeface="Aptos"/>
              </a:rPr>
              <a:t>1. Conceitos</a:t>
            </a:r>
            <a:endParaRPr b="0" lang="pt-BR" sz="1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000000"/>
                </a:solidFill>
                <a:latin typeface="Aptos"/>
              </a:rPr>
              <a:t>2. Exemplos</a:t>
            </a:r>
            <a:endParaRPr b="0" lang="pt-BR" sz="1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000000"/>
                </a:solidFill>
                <a:latin typeface="Aptos"/>
              </a:rPr>
              <a:t>3. Pratica guiada</a:t>
            </a:r>
            <a:endParaRPr b="0" lang="pt-BR" sz="19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000000"/>
                </a:solidFill>
                <a:latin typeface="Aptos"/>
              </a:rPr>
              <a:t>4. Exercicios</a:t>
            </a:r>
            <a:endParaRPr b="0" lang="pt-BR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6583680" y="3703320"/>
            <a:ext cx="3840120" cy="914040"/>
          </a:xfrm>
          <a:prstGeom prst="rect">
            <a:avLst/>
          </a:prstGeom>
          <a:solidFill>
            <a:srgbClr val="333333"/>
          </a:solidFill>
          <a:ln w="0">
            <a:solidFill>
              <a:srgbClr val="d5dde5"/>
            </a:solidFill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ctr">
            <a:noAutofit/>
          </a:bodyPr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1 # Ambiente sugerido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2 # Google Colab ou Jupyter Notebook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7"/>
          <p:cNvSpPr/>
          <p:nvPr/>
        </p:nvSpPr>
        <p:spPr>
          <a:xfrm>
            <a:off x="640080" y="6419160"/>
            <a:ext cx="3657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Aptos"/>
              </a:rPr>
              <a:t>Modulo 1 - Fundamentos de Python | Slide 2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/>
          <p:nvPr/>
        </p:nvSpPr>
        <p:spPr>
          <a:xfrm>
            <a:off x="640080" y="384120"/>
            <a:ext cx="9509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7375e"/>
                </a:solidFill>
                <a:latin typeface="Aptos Display"/>
                <a:ea typeface="Aptos Display"/>
              </a:rPr>
              <a:t>Sintaxe basica e primeiro codigo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1"/>
          <p:cNvSpPr/>
          <p:nvPr/>
        </p:nvSpPr>
        <p:spPr>
          <a:xfrm>
            <a:off x="640080" y="1078920"/>
            <a:ext cx="10789920" cy="360"/>
          </a:xfrm>
          <a:prstGeom prst="line">
            <a:avLst/>
          </a:prstGeom>
          <a:ln w="12700">
            <a:solidFill>
              <a:srgbClr val="dcea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2"/>
          <p:cNvSpPr/>
          <p:nvPr/>
        </p:nvSpPr>
        <p:spPr>
          <a:xfrm>
            <a:off x="822960" y="1444680"/>
            <a:ext cx="7772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1f1f1f"/>
                </a:solidFill>
                <a:latin typeface="Aptos"/>
              </a:rPr>
              <a:t>Python prioriza legibilidade. A identacao faz parte da estrutura do programa.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3"/>
          <p:cNvSpPr/>
          <p:nvPr/>
        </p:nvSpPr>
        <p:spPr>
          <a:xfrm>
            <a:off x="868680" y="1874520"/>
            <a:ext cx="4754520" cy="2011320"/>
          </a:xfrm>
          <a:prstGeom prst="rect">
            <a:avLst/>
          </a:prstGeom>
          <a:solidFill>
            <a:srgbClr val="333333"/>
          </a:solidFill>
          <a:ln w="0">
            <a:solidFill>
              <a:srgbClr val="d5dde5"/>
            </a:solidFill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ctr">
            <a:noAutofit/>
          </a:bodyPr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1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print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"Bem-vindo ao curso!"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)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2 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3 # Comentario de uma linha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4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curso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"Ciencia de Dados"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5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print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curso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)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4"/>
          <p:cNvSpPr/>
          <p:nvPr/>
        </p:nvSpPr>
        <p:spPr>
          <a:xfrm>
            <a:off x="6126480" y="1874520"/>
            <a:ext cx="26514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7375e"/>
                </a:solidFill>
                <a:latin typeface="Aptos"/>
              </a:rPr>
              <a:t>Boas praticas iniciais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5"/>
          <p:cNvSpPr/>
          <p:nvPr/>
        </p:nvSpPr>
        <p:spPr>
          <a:xfrm>
            <a:off x="6172200" y="2176200"/>
            <a:ext cx="4571640" cy="14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Usar nomes claros.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Evitar codigo desorganizado.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Comentar apenas quando necessario.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Manter padrao de identacao.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6"/>
          <p:cNvSpPr/>
          <p:nvPr/>
        </p:nvSpPr>
        <p:spPr>
          <a:xfrm>
            <a:off x="868680" y="4526280"/>
            <a:ext cx="60346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2f5597"/>
                </a:solidFill>
                <a:latin typeface="Aptos"/>
              </a:rPr>
              <a:t>Dica: cada linha deve ser simples e facil de entender.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640080" y="6419160"/>
            <a:ext cx="3657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Aptos"/>
              </a:rPr>
              <a:t>Modulo 1 - Fundamentos de Python | Slide 3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0"/>
          <p:cNvSpPr/>
          <p:nvPr/>
        </p:nvSpPr>
        <p:spPr>
          <a:xfrm>
            <a:off x="640080" y="384120"/>
            <a:ext cx="9509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7375e"/>
                </a:solidFill>
                <a:latin typeface="Aptos Display"/>
                <a:ea typeface="Aptos Display"/>
              </a:rPr>
              <a:t>Variaveis e tipos de dados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640080" y="1078920"/>
            <a:ext cx="10789920" cy="360"/>
          </a:xfrm>
          <a:prstGeom prst="line">
            <a:avLst/>
          </a:prstGeom>
          <a:ln w="12700">
            <a:solidFill>
              <a:srgbClr val="dcea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2"/>
          <p:cNvSpPr/>
          <p:nvPr/>
        </p:nvSpPr>
        <p:spPr>
          <a:xfrm>
            <a:off x="868680" y="1645920"/>
            <a:ext cx="4571640" cy="2331360"/>
          </a:xfrm>
          <a:prstGeom prst="rect">
            <a:avLst/>
          </a:prstGeom>
          <a:solidFill>
            <a:srgbClr val="333333"/>
          </a:solidFill>
          <a:ln w="0">
            <a:solidFill>
              <a:srgbClr val="d5dde5"/>
            </a:solidFill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ctr">
            <a:noAutofit/>
          </a:bodyPr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1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nome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"Carlos"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2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idade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22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3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altura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1.75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4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estudante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r>
              <a:rPr b="0" lang="en-US" sz="1400" spc="-1" strike="noStrike">
                <a:solidFill>
                  <a:srgbClr val="ae81ff"/>
                </a:solidFill>
                <a:latin typeface="Consolas"/>
                <a:ea typeface="Consolas"/>
              </a:rPr>
              <a:t>True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5 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6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print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type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nome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))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7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print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type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idade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))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3"/>
          <p:cNvSpPr/>
          <p:nvPr/>
        </p:nvSpPr>
        <p:spPr>
          <a:xfrm>
            <a:off x="5943600" y="1645920"/>
            <a:ext cx="2011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7375e"/>
                </a:solidFill>
                <a:latin typeface="Aptos"/>
              </a:rPr>
              <a:t>Tipos mais usados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4"/>
          <p:cNvSpPr/>
          <p:nvPr/>
        </p:nvSpPr>
        <p:spPr>
          <a:xfrm>
            <a:off x="5943600" y="1938600"/>
            <a:ext cx="3748680" cy="1828440"/>
          </a:xfrm>
          <a:prstGeom prst="rect">
            <a:avLst/>
          </a:prstGeom>
          <a:solidFill>
            <a:srgbClr val="f5f9fc"/>
          </a:solidFill>
          <a:ln w="0">
            <a:solidFill>
              <a:srgbClr val="dceaf7"/>
            </a:solidFill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000000"/>
                </a:solidFill>
                <a:latin typeface="Aptos"/>
              </a:rPr>
              <a:t>str  - texto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000000"/>
                </a:solidFill>
                <a:latin typeface="Aptos"/>
              </a:rPr>
              <a:t>int  - inteiro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000000"/>
                </a:solidFill>
                <a:latin typeface="Aptos"/>
              </a:rPr>
              <a:t>float - numero decimal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000000"/>
                </a:solidFill>
                <a:latin typeface="Aptos"/>
              </a:rPr>
              <a:t>bool - verdadeiro/falso</a:t>
            </a:r>
            <a:endParaRPr b="0" lang="pt-B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5"/>
          <p:cNvSpPr/>
          <p:nvPr/>
        </p:nvSpPr>
        <p:spPr>
          <a:xfrm>
            <a:off x="868680" y="4434840"/>
            <a:ext cx="9692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1f1f1f"/>
                </a:solidFill>
                <a:latin typeface="Aptos"/>
              </a:rPr>
              <a:t>Uma variavel guarda um valor que pode ser reutilizado no programa.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6"/>
          <p:cNvSpPr/>
          <p:nvPr/>
        </p:nvSpPr>
        <p:spPr>
          <a:xfrm>
            <a:off x="640080" y="6419160"/>
            <a:ext cx="3657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Aptos"/>
              </a:rPr>
              <a:t>Modulo 1 - Fundamentos de Python | Slide 4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0"/>
          <p:cNvSpPr/>
          <p:nvPr/>
        </p:nvSpPr>
        <p:spPr>
          <a:xfrm>
            <a:off x="640080" y="384120"/>
            <a:ext cx="9509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7375e"/>
                </a:solidFill>
                <a:latin typeface="Aptos Display"/>
                <a:ea typeface="Aptos Display"/>
              </a:rPr>
              <a:t>Condicionais e tomada de decisao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1"/>
          <p:cNvSpPr/>
          <p:nvPr/>
        </p:nvSpPr>
        <p:spPr>
          <a:xfrm>
            <a:off x="640080" y="1078920"/>
            <a:ext cx="10789920" cy="360"/>
          </a:xfrm>
          <a:prstGeom prst="line">
            <a:avLst/>
          </a:prstGeom>
          <a:ln w="12700">
            <a:solidFill>
              <a:srgbClr val="dcea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2"/>
          <p:cNvSpPr/>
          <p:nvPr/>
        </p:nvSpPr>
        <p:spPr>
          <a:xfrm>
            <a:off x="868680" y="1481400"/>
            <a:ext cx="9875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1f1f1f"/>
                </a:solidFill>
                <a:latin typeface="Aptos"/>
              </a:rPr>
              <a:t>As estruturas condicionais permitem que o programa escolha entre caminhos diferentes.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3"/>
          <p:cNvSpPr/>
          <p:nvPr/>
        </p:nvSpPr>
        <p:spPr>
          <a:xfrm>
            <a:off x="868680" y="1920240"/>
            <a:ext cx="4571640" cy="1965600"/>
          </a:xfrm>
          <a:prstGeom prst="rect">
            <a:avLst/>
          </a:prstGeom>
          <a:solidFill>
            <a:srgbClr val="333333"/>
          </a:solidFill>
          <a:ln w="0">
            <a:solidFill>
              <a:srgbClr val="d5dde5"/>
            </a:solidFill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ctr">
            <a:noAutofit/>
          </a:bodyPr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1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nota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7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2 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3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if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nota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&gt;=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7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: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4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print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"Aprovado"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)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5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else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: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6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print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"Reprovado"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)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4"/>
          <p:cNvSpPr/>
          <p:nvPr/>
        </p:nvSpPr>
        <p:spPr>
          <a:xfrm>
            <a:off x="5989320" y="1920240"/>
            <a:ext cx="2102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7375e"/>
                </a:solidFill>
                <a:latin typeface="Aptos"/>
              </a:rPr>
              <a:t>Quando usar?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5"/>
          <p:cNvSpPr/>
          <p:nvPr/>
        </p:nvSpPr>
        <p:spPr>
          <a:xfrm>
            <a:off x="6035040" y="2212920"/>
            <a:ext cx="4388760" cy="11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Validar acesso.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Classificar resultados.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Tomar decisoes com base em regras.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6"/>
          <p:cNvSpPr/>
          <p:nvPr/>
        </p:nvSpPr>
        <p:spPr>
          <a:xfrm>
            <a:off x="5989320" y="4462200"/>
            <a:ext cx="3840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2f5597"/>
                </a:solidFill>
                <a:latin typeface="Aptos"/>
              </a:rPr>
              <a:t>Palavras-chave: if, elif e else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7"/>
          <p:cNvSpPr/>
          <p:nvPr/>
        </p:nvSpPr>
        <p:spPr>
          <a:xfrm>
            <a:off x="640080" y="6419160"/>
            <a:ext cx="3657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Aptos"/>
              </a:rPr>
              <a:t>Modulo 1 - Fundamentos de Python | Slide 5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0"/>
          <p:cNvSpPr/>
          <p:nvPr/>
        </p:nvSpPr>
        <p:spPr>
          <a:xfrm>
            <a:off x="640080" y="384120"/>
            <a:ext cx="9509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7375e"/>
                </a:solidFill>
                <a:latin typeface="Aptos Display"/>
                <a:ea typeface="Aptos Display"/>
              </a:rPr>
              <a:t>Lacos de repeticao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1"/>
          <p:cNvSpPr/>
          <p:nvPr/>
        </p:nvSpPr>
        <p:spPr>
          <a:xfrm>
            <a:off x="640080" y="1078920"/>
            <a:ext cx="10789920" cy="360"/>
          </a:xfrm>
          <a:prstGeom prst="line">
            <a:avLst/>
          </a:prstGeom>
          <a:ln w="12700">
            <a:solidFill>
              <a:srgbClr val="dcea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2"/>
          <p:cNvSpPr/>
          <p:nvPr/>
        </p:nvSpPr>
        <p:spPr>
          <a:xfrm>
            <a:off x="914400" y="1828800"/>
            <a:ext cx="4114440" cy="1234080"/>
          </a:xfrm>
          <a:prstGeom prst="rect">
            <a:avLst/>
          </a:prstGeom>
          <a:solidFill>
            <a:srgbClr val="333333"/>
          </a:solidFill>
          <a:ln w="0">
            <a:solidFill>
              <a:srgbClr val="d5dde5"/>
            </a:solidFill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ctr">
            <a:noAutofit/>
          </a:bodyPr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1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for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i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in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range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1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,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6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):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2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print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"Numero:"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,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i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)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3"/>
          <p:cNvSpPr/>
          <p:nvPr/>
        </p:nvSpPr>
        <p:spPr>
          <a:xfrm>
            <a:off x="914400" y="3657600"/>
            <a:ext cx="4114440" cy="1599840"/>
          </a:xfrm>
          <a:prstGeom prst="rect">
            <a:avLst/>
          </a:prstGeom>
          <a:solidFill>
            <a:srgbClr val="333333"/>
          </a:solidFill>
          <a:ln w="0">
            <a:solidFill>
              <a:srgbClr val="d5dde5"/>
            </a:solidFill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ctr">
            <a:noAutofit/>
          </a:bodyPr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1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contador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1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2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while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contador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&lt;=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3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: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3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  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print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contador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)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4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   contador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+=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1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4"/>
          <p:cNvSpPr/>
          <p:nvPr/>
        </p:nvSpPr>
        <p:spPr>
          <a:xfrm>
            <a:off x="5669280" y="1828800"/>
            <a:ext cx="914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7375e"/>
                </a:solidFill>
                <a:latin typeface="Aptos"/>
              </a:rPr>
              <a:t>For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5"/>
          <p:cNvSpPr/>
          <p:nvPr/>
        </p:nvSpPr>
        <p:spPr>
          <a:xfrm>
            <a:off x="5669280" y="2121480"/>
            <a:ext cx="47545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Usado quando o numero de repeticoes e conhecido.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6"/>
          <p:cNvSpPr/>
          <p:nvPr/>
        </p:nvSpPr>
        <p:spPr>
          <a:xfrm>
            <a:off x="5669280" y="3657600"/>
            <a:ext cx="1005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7375e"/>
                </a:solidFill>
                <a:latin typeface="Aptos"/>
              </a:rPr>
              <a:t>While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7"/>
          <p:cNvSpPr/>
          <p:nvPr/>
        </p:nvSpPr>
        <p:spPr>
          <a:xfrm>
            <a:off x="5669280" y="3950280"/>
            <a:ext cx="48459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Usado quando a repeticao depende de uma condicao.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8"/>
          <p:cNvSpPr/>
          <p:nvPr/>
        </p:nvSpPr>
        <p:spPr>
          <a:xfrm>
            <a:off x="640080" y="6419160"/>
            <a:ext cx="3657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Aptos"/>
              </a:rPr>
              <a:t>Modulo 1 - Fundamentos de Python | Slide 6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 0"/>
          <p:cNvSpPr/>
          <p:nvPr/>
        </p:nvSpPr>
        <p:spPr>
          <a:xfrm>
            <a:off x="640080" y="384120"/>
            <a:ext cx="9509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7375e"/>
                </a:solidFill>
                <a:latin typeface="Aptos Display"/>
                <a:ea typeface="Aptos Display"/>
              </a:rPr>
              <a:t>Estruturas de dados: listas e dicionarios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1"/>
          <p:cNvSpPr/>
          <p:nvPr/>
        </p:nvSpPr>
        <p:spPr>
          <a:xfrm>
            <a:off x="640080" y="1078920"/>
            <a:ext cx="10789920" cy="360"/>
          </a:xfrm>
          <a:prstGeom prst="line">
            <a:avLst/>
          </a:prstGeom>
          <a:ln w="12700">
            <a:solidFill>
              <a:srgbClr val="dcea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868680" y="1828800"/>
            <a:ext cx="4297320" cy="1325520"/>
          </a:xfrm>
          <a:prstGeom prst="rect">
            <a:avLst/>
          </a:prstGeom>
          <a:solidFill>
            <a:srgbClr val="333333"/>
          </a:solidFill>
          <a:ln w="0">
            <a:solidFill>
              <a:srgbClr val="d5dde5"/>
            </a:solidFill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ctr">
            <a:noAutofit/>
          </a:bodyPr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1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frutas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[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"maca"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,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"banana"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,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"uva"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]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2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print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frutas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[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0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])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3"/>
          <p:cNvSpPr/>
          <p:nvPr/>
        </p:nvSpPr>
        <p:spPr>
          <a:xfrm>
            <a:off x="868680" y="3657600"/>
            <a:ext cx="4297320" cy="1325520"/>
          </a:xfrm>
          <a:prstGeom prst="rect">
            <a:avLst/>
          </a:prstGeom>
          <a:solidFill>
            <a:srgbClr val="333333"/>
          </a:solidFill>
          <a:ln w="0">
            <a:solidFill>
              <a:srgbClr val="d5dde5"/>
            </a:solidFill>
          </a:ln>
        </p:spPr>
        <p:style>
          <a:lnRef idx="0"/>
          <a:fillRef idx="0"/>
          <a:effectRef idx="0"/>
          <a:fontRef idx="minor"/>
        </p:style>
        <p:txBody>
          <a:bodyPr lIns="1800" rIns="1800" tIns="1800" bIns="1800" anchor="ctr">
            <a:noAutofit/>
          </a:bodyPr>
          <a:p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1 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aluno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=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{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"nome"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: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"Ana"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,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"nota"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: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 8.5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}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8292a2"/>
                </a:solidFill>
                <a:latin typeface="Consolas"/>
                <a:ea typeface="Consolas"/>
              </a:rPr>
              <a:t>2 </a:t>
            </a:r>
            <a:r>
              <a:rPr b="0" lang="en-US" sz="1400" spc="-1" strike="noStrike">
                <a:solidFill>
                  <a:srgbClr val="66d9ef"/>
                </a:solidFill>
                <a:latin typeface="Consolas"/>
                <a:ea typeface="Consolas"/>
              </a:rPr>
              <a:t>print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(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aluno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[</a:t>
            </a:r>
            <a:r>
              <a:rPr b="0" lang="en-US" sz="1400" spc="-1" strike="noStrike">
                <a:solidFill>
                  <a:srgbClr val="ffffff"/>
                </a:solidFill>
                <a:latin typeface="Consolas"/>
                <a:ea typeface="Consolas"/>
              </a:rPr>
              <a:t>"nome"</a:t>
            </a:r>
            <a:r>
              <a:rPr b="0" lang="en-US" sz="1400" spc="-1" strike="noStrike">
                <a:solidFill>
                  <a:srgbClr val="f8f8f2"/>
                </a:solidFill>
                <a:latin typeface="Consolas"/>
                <a:ea typeface="Consolas"/>
              </a:rPr>
              <a:t>])</a:t>
            </a:r>
            <a:endParaRPr b="0" lang="pt-B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4"/>
          <p:cNvSpPr/>
          <p:nvPr/>
        </p:nvSpPr>
        <p:spPr>
          <a:xfrm>
            <a:off x="5623560" y="1828800"/>
            <a:ext cx="1096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7375e"/>
                </a:solidFill>
                <a:latin typeface="Aptos"/>
              </a:rPr>
              <a:t>Lista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5"/>
          <p:cNvSpPr/>
          <p:nvPr/>
        </p:nvSpPr>
        <p:spPr>
          <a:xfrm>
            <a:off x="5623560" y="2121480"/>
            <a:ext cx="4845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Colecao ordenada de elementos. Ideal para sequencias.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6"/>
          <p:cNvSpPr/>
          <p:nvPr/>
        </p:nvSpPr>
        <p:spPr>
          <a:xfrm>
            <a:off x="5623560" y="3657600"/>
            <a:ext cx="1371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7375e"/>
                </a:solidFill>
                <a:latin typeface="Aptos"/>
              </a:rPr>
              <a:t>Dicionario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7"/>
          <p:cNvSpPr/>
          <p:nvPr/>
        </p:nvSpPr>
        <p:spPr>
          <a:xfrm>
            <a:off x="5623560" y="3950280"/>
            <a:ext cx="484596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Estrutura chave-valor. Ideal para representar registros.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8"/>
          <p:cNvSpPr/>
          <p:nvPr/>
        </p:nvSpPr>
        <p:spPr>
          <a:xfrm>
            <a:off x="640080" y="6419160"/>
            <a:ext cx="3657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Aptos"/>
              </a:rPr>
              <a:t>Modulo 1 - Fundamentos de Python | Slide 7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0"/>
          <p:cNvSpPr/>
          <p:nvPr/>
        </p:nvSpPr>
        <p:spPr>
          <a:xfrm>
            <a:off x="640080" y="384120"/>
            <a:ext cx="95094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400" spc="-1" strike="noStrike">
                <a:solidFill>
                  <a:srgbClr val="17375e"/>
                </a:solidFill>
                <a:latin typeface="Aptos Display"/>
                <a:ea typeface="Aptos Display"/>
              </a:rPr>
              <a:t>Encerramento e exercicios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1"/>
          <p:cNvSpPr/>
          <p:nvPr/>
        </p:nvSpPr>
        <p:spPr>
          <a:xfrm>
            <a:off x="640080" y="1078920"/>
            <a:ext cx="10789920" cy="360"/>
          </a:xfrm>
          <a:prstGeom prst="line">
            <a:avLst/>
          </a:prstGeom>
          <a:ln w="12700">
            <a:solidFill>
              <a:srgbClr val="dcea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2"/>
          <p:cNvSpPr/>
          <p:nvPr/>
        </p:nvSpPr>
        <p:spPr>
          <a:xfrm>
            <a:off x="868680" y="1554480"/>
            <a:ext cx="3657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7375e"/>
                </a:solidFill>
                <a:latin typeface="Aptos"/>
              </a:rPr>
              <a:t>Checklist do que foi aprendido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3"/>
          <p:cNvSpPr/>
          <p:nvPr/>
        </p:nvSpPr>
        <p:spPr>
          <a:xfrm>
            <a:off x="868680" y="1847160"/>
            <a:ext cx="4663080" cy="171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Variaveis e tipos.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Condicionais.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Lacos.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Listas e dicionarios.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Boas praticas iniciais.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5852160" y="1554480"/>
            <a:ext cx="29257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7375e"/>
                </a:solidFill>
                <a:latin typeface="Aptos"/>
              </a:rPr>
              <a:t>Exercicios sugeridos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5852160" y="1847160"/>
            <a:ext cx="4388760" cy="142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t">
            <a:noAutofit/>
          </a:bodyPr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Criar um cadastro simples.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Classificar notas.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Percorrer listas.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100000"/>
              </a:lnSpc>
              <a:buClr>
                <a:srgbClr val="1f1f1f"/>
              </a:buClr>
              <a:buFont typeface="Symbol" charset="2"/>
              <a:buChar char=""/>
            </a:pPr>
            <a:r>
              <a:rPr b="0" lang="en-US" sz="1800" spc="-1" strike="noStrike">
                <a:solidFill>
                  <a:srgbClr val="1f1f1f"/>
                </a:solidFill>
                <a:latin typeface="Aptos"/>
              </a:rPr>
              <a:t>Identificar numeros pares.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868680" y="4800600"/>
            <a:ext cx="95094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2f5597"/>
                </a:solidFill>
                <a:latin typeface="Aptos"/>
              </a:rPr>
              <a:t>Proximo passo: abrir o notebook e executar cada exemplo.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7"/>
          <p:cNvSpPr/>
          <p:nvPr/>
        </p:nvSpPr>
        <p:spPr>
          <a:xfrm>
            <a:off x="640080" y="6419160"/>
            <a:ext cx="3657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b7280"/>
                </a:solidFill>
                <a:latin typeface="Aptos"/>
              </a:rPr>
              <a:t>Modulo 1 - Fundamentos de Python | Slide 8</a:t>
            </a:r>
            <a:endParaRPr b="0" lang="pt-B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LibreOffice/7.5.5.2$Windows_X86_64 LibreOffice_project/ca8fe7424262805f223b9a2334bc7181abbcbf5e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2026-03-12T12:18:30Z</dcterms:created>
  <dc:creator>OpenAI</dc:creator>
  <dc:description/>
  <dc:language>pt-BR</dc:language>
  <cp:lastModifiedBy/>
  <dcterms:modified xsi:type="dcterms:W3CDTF">2026-03-12T10:13:25Z</dcterms:modified>
  <cp:revision>2</cp:revision>
  <dc:subject>Modulo 1 - Fundamentos de Python</dc:subject>
  <dc:title>Fundamentos de Python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On-screen Show (16:9)</vt:lpwstr>
  </property>
  <property fmtid="{D5CDD505-2E9C-101B-9397-08002B2CF9AE}" pid="4" name="Slides">
    <vt:i4>8</vt:i4>
  </property>
</Properties>
</file>