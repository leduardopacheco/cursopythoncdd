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trike="noStrike" u="none">
                <a:solidFill>
                  <a:schemeClr val="dk1"/>
                </a:solidFill>
                <a:uFillTx/>
                <a:latin typeface="Calibri"/>
              </a:rPr>
              <a:t>Click to move </a:t>
            </a:r>
            <a:r>
              <a:rPr b="0" lang="pt-BR" sz="1800" strike="noStrike" u="none">
                <a:solidFill>
                  <a:schemeClr val="dk1"/>
                </a:solidFill>
                <a:uFillTx/>
                <a:latin typeface="Calibri"/>
              </a:rPr>
              <a:t>the slide</a:t>
            </a:r>
            <a:endParaRPr b="0" lang="pt-BR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pt-B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uFillTx/>
                <a:latin typeface="Times New Roman"/>
              </a:rPr>
              <a:t>&lt;header&gt;</a:t>
            </a:r>
            <a:endParaRPr b="0" lang="pt-B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pt-B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61EC74D-3148-44DF-ABE1-29E60BDC072E}" type="slidenum">
              <a:rPr b="0" lang="pt-BR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pt-B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486FA1-21B5-4F2D-88D2-751312C9B30A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6BF456-5911-4720-A4C7-3A65B7A4DFA7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4261DB-20B4-4A50-9294-142064CBF92E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782913-58EF-4F12-A102-516EE1FDF9B8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745DDB-9F57-4BA2-9067-39BB55E02644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D4EF97-2A2D-4009-A8C2-327B72C69DF0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5517E1-C569-4592-8496-F7635E14BA98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BAC40-13B7-423E-B899-1D53CE052B3C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pt-B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uFillTx/>
                <a:latin typeface="Calibri"/>
              </a:rPr>
              <a:t>Click to edit the title text </a:t>
            </a:r>
            <a:r>
              <a:rPr b="0" lang="pt-BR" sz="1800" strike="noStrike" u="none">
                <a:solidFill>
                  <a:schemeClr val="dk1"/>
                </a:solidFill>
                <a:uFillTx/>
                <a:latin typeface="Calibri"/>
              </a:rPr>
              <a:t>format</a:t>
            </a:r>
            <a:endParaRPr b="0" lang="pt-BR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pt-BR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pt-BR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pt-BR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pt-BR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640" cy="2923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82880" y="27360"/>
            <a:ext cx="8777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caf50"/>
                </a:solidFill>
                <a:uFillTx/>
                <a:latin typeface="Consolas"/>
                <a:ea typeface="Consolas"/>
              </a:rPr>
              <a:t>import pandas as pd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0" y="4846320"/>
            <a:ext cx="9143640" cy="2923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82880" y="4873680"/>
            <a:ext cx="8777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caf50"/>
                </a:solidFill>
                <a:uFillTx/>
                <a:latin typeface="Consolas"/>
                <a:ea typeface="Consolas"/>
              </a:rPr>
              <a:t>def analyze_data():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822960" y="502920"/>
            <a:ext cx="7497720" cy="384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822960" y="502920"/>
            <a:ext cx="72720" cy="38401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1051560" y="685800"/>
            <a:ext cx="1462680" cy="292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1051560" y="68580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a1a2e"/>
                </a:solidFill>
                <a:uFillTx/>
                <a:latin typeface="Calibri"/>
                <a:ea typeface="Calibri"/>
              </a:rPr>
              <a:t>ETAPA 3 / 4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1051560" y="1078920"/>
            <a:ext cx="6949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4caf50"/>
                </a:solidFill>
                <a:uFillTx/>
                <a:latin typeface="Calibri"/>
                <a:ea typeface="Calibri"/>
              </a:rPr>
              <a:t>&gt; Consolidação</a:t>
            </a:r>
            <a:r>
              <a:rPr b="1" lang="en-US" sz="3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 e Qualidade</a:t>
            </a:r>
            <a:endParaRPr b="0" lang="pt-BR" sz="3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1051560" y="2176200"/>
            <a:ext cx="6949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Curso Introdutório de Python para Ciência de Dados</a:t>
            </a:r>
            <a:endParaRPr b="0" lang="pt-BR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1051560" y="2578680"/>
            <a:ext cx="6949080" cy="22680"/>
          </a:xfrm>
          <a:prstGeom prst="rect">
            <a:avLst/>
          </a:prstGeom>
          <a:solidFill>
            <a:srgbClr val="4caf50">
              <a:alpha val="40000"/>
            </a:srgbClr>
          </a:solidFill>
          <a:ln w="12700">
            <a:solidFill>
              <a:srgbClr val="4caf50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1051560" y="2697480"/>
            <a:ext cx="6949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Universidade de Fortaleza (UNIFOR)</a:t>
            </a:r>
            <a:endParaRPr b="0" lang="pt-BR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1051560" y="2990160"/>
            <a:ext cx="6949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Atividade Extensionista  |  Disciplina: T326 - Ciência de Dados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1051560" y="3246120"/>
            <a:ext cx="6949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Equipe G  |  Prof. Rilder de Sousa Pires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9143640" cy="2923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182880" y="27360"/>
            <a:ext cx="8777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caf50"/>
                </a:solidFill>
                <a:uFillTx/>
                <a:latin typeface="Consolas"/>
                <a:ea typeface="Consolas"/>
              </a:rPr>
              <a:t># Etapa 3: Consolidação e Qualidade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365760" y="41148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O que entregamos nesta etapa?</a:t>
            </a:r>
            <a:endParaRPr b="0" lang="pt-BR" sz="2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265320" y="1106280"/>
            <a:ext cx="4205880" cy="15998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" name="Shape 4"/>
          <p:cNvSpPr/>
          <p:nvPr/>
        </p:nvSpPr>
        <p:spPr>
          <a:xfrm>
            <a:off x="228600" y="1051560"/>
            <a:ext cx="4205880" cy="15998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" name="Shape 5"/>
          <p:cNvSpPr/>
          <p:nvPr/>
        </p:nvSpPr>
        <p:spPr>
          <a:xfrm>
            <a:off x="228600" y="1051560"/>
            <a:ext cx="63720" cy="15998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365760" y="11246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bcd4"/>
                </a:solidFill>
                <a:uFillTx/>
                <a:latin typeface="Calibri"/>
                <a:ea typeface="Calibri"/>
              </a:rPr>
              <a:t>📊  </a:t>
            </a:r>
            <a:r>
              <a:rPr b="1" lang="en-US" sz="1300" strike="noStrike" u="none">
                <a:solidFill>
                  <a:srgbClr val="00bcd4"/>
                </a:solidFill>
                <a:uFillTx/>
                <a:latin typeface="Calibri"/>
                <a:ea typeface="Calibri"/>
              </a:rPr>
              <a:t>Módulo 3 Finalizado</a:t>
            </a:r>
            <a:endParaRPr b="0" lang="pt-BR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365760" y="1508760"/>
            <a:ext cx="400464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Visualização com Matplotlib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Visualizações com Seaborn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Exemplos práticos reais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Gabarito de exercícios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" name="Shape 8"/>
          <p:cNvSpPr/>
          <p:nvPr/>
        </p:nvSpPr>
        <p:spPr>
          <a:xfrm>
            <a:off x="4745880" y="1106280"/>
            <a:ext cx="4205880" cy="15998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" name="Shape 9"/>
          <p:cNvSpPr/>
          <p:nvPr/>
        </p:nvSpPr>
        <p:spPr>
          <a:xfrm>
            <a:off x="4709160" y="1051560"/>
            <a:ext cx="4205880" cy="15998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" name="Shape 10"/>
          <p:cNvSpPr/>
          <p:nvPr/>
        </p:nvSpPr>
        <p:spPr>
          <a:xfrm>
            <a:off x="4709160" y="1051560"/>
            <a:ext cx="63720" cy="1599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4846320" y="11246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4caf50"/>
                </a:solidFill>
                <a:uFillTx/>
                <a:latin typeface="Calibri"/>
                <a:ea typeface="Calibri"/>
              </a:rPr>
              <a:t>🔍  </a:t>
            </a:r>
            <a:r>
              <a:rPr b="1" lang="en-US" sz="1300" strike="noStrike" u="none">
                <a:solidFill>
                  <a:srgbClr val="4caf50"/>
                </a:solidFill>
                <a:uFillTx/>
                <a:latin typeface="Calibri"/>
                <a:ea typeface="Calibri"/>
              </a:rPr>
              <a:t>Módulo 4 — EDA Completo</a:t>
            </a:r>
            <a:endParaRPr b="0" lang="pt-BR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4846320" y="1508760"/>
            <a:ext cx="400464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Análise Exploratória de Dados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Análise univariada e bivariada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Storytelling com dados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Gabarito de exercícios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" name="Shape 13"/>
          <p:cNvSpPr/>
          <p:nvPr/>
        </p:nvSpPr>
        <p:spPr>
          <a:xfrm>
            <a:off x="265320" y="2935080"/>
            <a:ext cx="4205880" cy="15998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" name="Shape 14"/>
          <p:cNvSpPr/>
          <p:nvPr/>
        </p:nvSpPr>
        <p:spPr>
          <a:xfrm>
            <a:off x="228600" y="2880360"/>
            <a:ext cx="4205880" cy="15998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" name="Shape 15"/>
          <p:cNvSpPr/>
          <p:nvPr/>
        </p:nvSpPr>
        <p:spPr>
          <a:xfrm>
            <a:off x="228600" y="2880360"/>
            <a:ext cx="63720" cy="159984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365760" y="29534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9800"/>
                </a:solidFill>
                <a:uFillTx/>
                <a:latin typeface="Calibri"/>
                <a:ea typeface="Calibri"/>
              </a:rPr>
              <a:t>🏆  </a:t>
            </a:r>
            <a:r>
              <a:rPr b="1" lang="en-US" sz="1300" strike="noStrike" u="none">
                <a:solidFill>
                  <a:srgbClr val="ff9800"/>
                </a:solidFill>
                <a:uFillTx/>
                <a:latin typeface="Calibri"/>
                <a:ea typeface="Calibri"/>
              </a:rPr>
              <a:t>Projeto Final Completo</a:t>
            </a:r>
            <a:endParaRPr b="0" lang="pt-BR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" name="Text 17"/>
          <p:cNvSpPr/>
          <p:nvPr/>
        </p:nvSpPr>
        <p:spPr>
          <a:xfrm>
            <a:off x="365760" y="3337560"/>
            <a:ext cx="400464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Dataset real: Brazilian Cities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Perguntas de negócio (6 P.N.)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Visualizações e insights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Conclusões bem escritas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" name="Shape 18"/>
          <p:cNvSpPr/>
          <p:nvPr/>
        </p:nvSpPr>
        <p:spPr>
          <a:xfrm>
            <a:off x="4745880" y="2935080"/>
            <a:ext cx="4205880" cy="15998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" name="Shape 19"/>
          <p:cNvSpPr/>
          <p:nvPr/>
        </p:nvSpPr>
        <p:spPr>
          <a:xfrm>
            <a:off x="4709160" y="2880360"/>
            <a:ext cx="4205880" cy="15998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" name="Shape 20"/>
          <p:cNvSpPr/>
          <p:nvPr/>
        </p:nvSpPr>
        <p:spPr>
          <a:xfrm>
            <a:off x="4709160" y="2880360"/>
            <a:ext cx="63720" cy="159984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" name="Text 21"/>
          <p:cNvSpPr/>
          <p:nvPr/>
        </p:nvSpPr>
        <p:spPr>
          <a:xfrm>
            <a:off x="4846320" y="29534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9c27b0"/>
                </a:solidFill>
                <a:uFillTx/>
                <a:latin typeface="Calibri"/>
                <a:ea typeface="Calibri"/>
              </a:rPr>
              <a:t>📄  </a:t>
            </a:r>
            <a:r>
              <a:rPr b="1" lang="en-US" sz="1300" strike="noStrike" u="none">
                <a:solidFill>
                  <a:srgbClr val="9c27b0"/>
                </a:solidFill>
                <a:uFillTx/>
                <a:latin typeface="Calibri"/>
                <a:ea typeface="Calibri"/>
              </a:rPr>
              <a:t>README Finalizado</a:t>
            </a:r>
            <a:endParaRPr b="0" lang="pt-BR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4" name="Text 22"/>
          <p:cNvSpPr/>
          <p:nvPr/>
        </p:nvSpPr>
        <p:spPr>
          <a:xfrm>
            <a:off x="4846320" y="3337560"/>
            <a:ext cx="400464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Descrição do curso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Estrutura do repositório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Links e referências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Como executar os notebooks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9143640" cy="2923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182880" y="27360"/>
            <a:ext cx="8777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caf50"/>
                </a:solidFill>
                <a:uFillTx/>
                <a:latin typeface="Consolas"/>
                <a:ea typeface="Consolas"/>
              </a:rPr>
              <a:t>import matplotlib.pyplot as plt; import seaborn as sns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365760" y="41148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Módulo 3 — Visualização de Dados</a:t>
            </a:r>
            <a:endParaRPr b="0" lang="pt-BR" sz="2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" name="Shape 3"/>
          <p:cNvSpPr/>
          <p:nvPr/>
        </p:nvSpPr>
        <p:spPr>
          <a:xfrm>
            <a:off x="265320" y="1042560"/>
            <a:ext cx="4205880" cy="352008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" name="Shape 4"/>
          <p:cNvSpPr/>
          <p:nvPr/>
        </p:nvSpPr>
        <p:spPr>
          <a:xfrm>
            <a:off x="228600" y="1005840"/>
            <a:ext cx="4205880" cy="352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228600" y="1005840"/>
            <a:ext cx="63720" cy="35200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365760" y="109728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196f3"/>
                </a:solidFill>
                <a:uFillTx/>
                <a:latin typeface="Calibri"/>
                <a:ea typeface="Calibri"/>
              </a:rPr>
              <a:t>Matplotlib — A Base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365760" y="1508760"/>
            <a:ext cx="3931560" cy="28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e0e0e0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Anatomia de um gráfico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a0a0a0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Histogramas e distribuições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0e0e0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Gráficos de barras (verticais/horizontais)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a0a0a0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Scatter plot com linha de tendência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0e0e0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Subplots e painéis múltiplos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3" name="Shape 8"/>
          <p:cNvSpPr/>
          <p:nvPr/>
        </p:nvSpPr>
        <p:spPr>
          <a:xfrm>
            <a:off x="4745880" y="1042560"/>
            <a:ext cx="4205880" cy="352008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" name="Shape 9"/>
          <p:cNvSpPr/>
          <p:nvPr/>
        </p:nvSpPr>
        <p:spPr>
          <a:xfrm>
            <a:off x="4709160" y="1005840"/>
            <a:ext cx="4205880" cy="352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4709160" y="1005840"/>
            <a:ext cx="63720" cy="35200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6" name="Text 11"/>
          <p:cNvSpPr/>
          <p:nvPr/>
        </p:nvSpPr>
        <p:spPr>
          <a:xfrm>
            <a:off x="4846320" y="109728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bcd4"/>
                </a:solidFill>
                <a:uFillTx/>
                <a:latin typeface="Calibri"/>
                <a:ea typeface="Calibri"/>
              </a:rPr>
              <a:t>Seaborn — Estatístico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7" name="Text 12"/>
          <p:cNvSpPr/>
          <p:nvPr/>
        </p:nvSpPr>
        <p:spPr>
          <a:xfrm>
            <a:off x="4846320" y="1508760"/>
            <a:ext cx="3931560" cy="28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e0e0e0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Boxplot e Violinplot por categoria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a0a0a0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Heatmap de correlação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0e0e0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Barplot com erro padrão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a0a0a0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Pairplot multivariado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0e0e0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Integração nativa com DataFrames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8" name="Shape 13"/>
          <p:cNvSpPr/>
          <p:nvPr/>
        </p:nvSpPr>
        <p:spPr>
          <a:xfrm>
            <a:off x="228600" y="4617720"/>
            <a:ext cx="8686440" cy="292320"/>
          </a:xfrm>
          <a:prstGeom prst="rect">
            <a:avLst/>
          </a:prstGeom>
          <a:solidFill>
            <a:srgbClr val="2196f3">
              <a:alpha val="20000"/>
            </a:srgbClr>
          </a:solidFill>
          <a:ln w="12700">
            <a:solidFill>
              <a:srgbClr val="2196f3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9" name="Text 14"/>
          <p:cNvSpPr/>
          <p:nvPr/>
        </p:nvSpPr>
        <p:spPr>
          <a:xfrm>
            <a:off x="228600" y="4617720"/>
            <a:ext cx="8686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Dataset: Brazilian Cities — 5.578 municípios  |  Gabarito: 5 exercícios resolvidos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0" y="0"/>
            <a:ext cx="9143640" cy="2923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182880" y="27360"/>
            <a:ext cx="8777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caf50"/>
                </a:solidFill>
                <a:uFillTx/>
                <a:latin typeface="Consolas"/>
                <a:ea typeface="Consolas"/>
              </a:rPr>
              <a:t># Módulo 4: Análise Exploratória de Dados (EDA)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365760" y="41148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Módulo 4 — Análise Exploratória de Dados</a:t>
            </a:r>
            <a:endParaRPr b="0" lang="pt-BR" sz="2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3" name="Shape 3"/>
          <p:cNvSpPr/>
          <p:nvPr/>
        </p:nvSpPr>
        <p:spPr>
          <a:xfrm>
            <a:off x="228600" y="1051560"/>
            <a:ext cx="1279800" cy="1416960"/>
          </a:xfrm>
          <a:prstGeom prst="rect">
            <a:avLst/>
          </a:prstGeom>
          <a:solidFill>
            <a:srgbClr val="16213e"/>
          </a:solidFill>
          <a:ln w="12700">
            <a:solidFill>
              <a:srgbClr val="4caf5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4" name="Shape 4"/>
          <p:cNvSpPr/>
          <p:nvPr/>
        </p:nvSpPr>
        <p:spPr>
          <a:xfrm>
            <a:off x="228600" y="1051560"/>
            <a:ext cx="1279800" cy="3837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228600" y="1051560"/>
            <a:ext cx="1279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4.1</a:t>
            </a:r>
            <a:endParaRPr b="0" lang="pt-BR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274320" y="1481400"/>
            <a:ext cx="1188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Definição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do Problema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7" name="Shape 7"/>
          <p:cNvSpPr/>
          <p:nvPr/>
        </p:nvSpPr>
        <p:spPr>
          <a:xfrm>
            <a:off x="1508760" y="1710000"/>
            <a:ext cx="164160" cy="22680"/>
          </a:xfrm>
          <a:prstGeom prst="rect">
            <a:avLst/>
          </a:prstGeom>
          <a:solidFill>
            <a:srgbClr val="a0a0a0">
              <a:alpha val="60000"/>
            </a:srgbClr>
          </a:solidFill>
          <a:ln w="12700">
            <a:solidFill>
              <a:srgbClr val="a0a0a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Shape 8"/>
          <p:cNvSpPr/>
          <p:nvPr/>
        </p:nvSpPr>
        <p:spPr>
          <a:xfrm>
            <a:off x="1691640" y="1051560"/>
            <a:ext cx="1279800" cy="141696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9" name="Shape 9"/>
          <p:cNvSpPr/>
          <p:nvPr/>
        </p:nvSpPr>
        <p:spPr>
          <a:xfrm>
            <a:off x="1691640" y="1051560"/>
            <a:ext cx="1279800" cy="3837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1691640" y="1051560"/>
            <a:ext cx="1279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4.2</a:t>
            </a:r>
            <a:endParaRPr b="0" lang="pt-BR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1" name="Text 11"/>
          <p:cNvSpPr/>
          <p:nvPr/>
        </p:nvSpPr>
        <p:spPr>
          <a:xfrm>
            <a:off x="1737360" y="1481400"/>
            <a:ext cx="1188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Exploração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Inicial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2" name="Shape 12"/>
          <p:cNvSpPr/>
          <p:nvPr/>
        </p:nvSpPr>
        <p:spPr>
          <a:xfrm>
            <a:off x="2971800" y="1710000"/>
            <a:ext cx="164160" cy="22680"/>
          </a:xfrm>
          <a:prstGeom prst="rect">
            <a:avLst/>
          </a:prstGeom>
          <a:solidFill>
            <a:srgbClr val="a0a0a0">
              <a:alpha val="60000"/>
            </a:srgbClr>
          </a:solidFill>
          <a:ln w="12700">
            <a:solidFill>
              <a:srgbClr val="a0a0a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Shape 13"/>
          <p:cNvSpPr/>
          <p:nvPr/>
        </p:nvSpPr>
        <p:spPr>
          <a:xfrm>
            <a:off x="3154680" y="1051560"/>
            <a:ext cx="1279800" cy="1416960"/>
          </a:xfrm>
          <a:prstGeom prst="rect">
            <a:avLst/>
          </a:prstGeom>
          <a:solidFill>
            <a:srgbClr val="16213e"/>
          </a:solidFill>
          <a:ln w="12700">
            <a:solidFill>
              <a:srgbClr val="00bc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4" name="Shape 14"/>
          <p:cNvSpPr/>
          <p:nvPr/>
        </p:nvSpPr>
        <p:spPr>
          <a:xfrm>
            <a:off x="3154680" y="1051560"/>
            <a:ext cx="1279800" cy="3837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5" name="Text 15"/>
          <p:cNvSpPr/>
          <p:nvPr/>
        </p:nvSpPr>
        <p:spPr>
          <a:xfrm>
            <a:off x="3154680" y="1051560"/>
            <a:ext cx="1279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4.3</a:t>
            </a:r>
            <a:endParaRPr b="0" lang="pt-BR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6" name="Text 16"/>
          <p:cNvSpPr/>
          <p:nvPr/>
        </p:nvSpPr>
        <p:spPr>
          <a:xfrm>
            <a:off x="3200400" y="1481400"/>
            <a:ext cx="1188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Análise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Univar.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7" name="Shape 17"/>
          <p:cNvSpPr/>
          <p:nvPr/>
        </p:nvSpPr>
        <p:spPr>
          <a:xfrm>
            <a:off x="4434840" y="1710000"/>
            <a:ext cx="164160" cy="22680"/>
          </a:xfrm>
          <a:prstGeom prst="rect">
            <a:avLst/>
          </a:prstGeom>
          <a:solidFill>
            <a:srgbClr val="a0a0a0">
              <a:alpha val="60000"/>
            </a:srgbClr>
          </a:solidFill>
          <a:ln w="12700">
            <a:solidFill>
              <a:srgbClr val="a0a0a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Shape 18"/>
          <p:cNvSpPr/>
          <p:nvPr/>
        </p:nvSpPr>
        <p:spPr>
          <a:xfrm>
            <a:off x="4617720" y="1051560"/>
            <a:ext cx="1279800" cy="1416960"/>
          </a:xfrm>
          <a:prstGeom prst="rect">
            <a:avLst/>
          </a:prstGeom>
          <a:solidFill>
            <a:srgbClr val="16213e"/>
          </a:solidFill>
          <a:ln w="12700">
            <a:solidFill>
              <a:srgbClr val="ff98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9" name="Shape 19"/>
          <p:cNvSpPr/>
          <p:nvPr/>
        </p:nvSpPr>
        <p:spPr>
          <a:xfrm>
            <a:off x="4617720" y="1051560"/>
            <a:ext cx="1279800" cy="38376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Text 20"/>
          <p:cNvSpPr/>
          <p:nvPr/>
        </p:nvSpPr>
        <p:spPr>
          <a:xfrm>
            <a:off x="4617720" y="1051560"/>
            <a:ext cx="1279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4.4</a:t>
            </a:r>
            <a:endParaRPr b="0" lang="pt-BR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1" name="Text 21"/>
          <p:cNvSpPr/>
          <p:nvPr/>
        </p:nvSpPr>
        <p:spPr>
          <a:xfrm>
            <a:off x="4663440" y="1481400"/>
            <a:ext cx="1188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Análise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Bivariate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2" name="Shape 22"/>
          <p:cNvSpPr/>
          <p:nvPr/>
        </p:nvSpPr>
        <p:spPr>
          <a:xfrm>
            <a:off x="5897880" y="1710000"/>
            <a:ext cx="164160" cy="22680"/>
          </a:xfrm>
          <a:prstGeom prst="rect">
            <a:avLst/>
          </a:prstGeom>
          <a:solidFill>
            <a:srgbClr val="a0a0a0">
              <a:alpha val="60000"/>
            </a:srgbClr>
          </a:solidFill>
          <a:ln w="12700">
            <a:solidFill>
              <a:srgbClr val="a0a0a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Shape 23"/>
          <p:cNvSpPr/>
          <p:nvPr/>
        </p:nvSpPr>
        <p:spPr>
          <a:xfrm>
            <a:off x="6080760" y="1051560"/>
            <a:ext cx="1279800" cy="1416960"/>
          </a:xfrm>
          <a:prstGeom prst="rect">
            <a:avLst/>
          </a:prstGeom>
          <a:solidFill>
            <a:srgbClr val="16213e"/>
          </a:solidFill>
          <a:ln w="12700">
            <a:solidFill>
              <a:srgbClr val="9c27b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4" name="Shape 24"/>
          <p:cNvSpPr/>
          <p:nvPr/>
        </p:nvSpPr>
        <p:spPr>
          <a:xfrm>
            <a:off x="6080760" y="1051560"/>
            <a:ext cx="1279800" cy="38376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5" name="Text 25"/>
          <p:cNvSpPr/>
          <p:nvPr/>
        </p:nvSpPr>
        <p:spPr>
          <a:xfrm>
            <a:off x="6080760" y="1051560"/>
            <a:ext cx="1279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4.5</a:t>
            </a:r>
            <a:endParaRPr b="0" lang="pt-BR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6" name="Text 26"/>
          <p:cNvSpPr/>
          <p:nvPr/>
        </p:nvSpPr>
        <p:spPr>
          <a:xfrm>
            <a:off x="6126480" y="1481400"/>
            <a:ext cx="1188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Análise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Categórica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7" name="Shape 27"/>
          <p:cNvSpPr/>
          <p:nvPr/>
        </p:nvSpPr>
        <p:spPr>
          <a:xfrm>
            <a:off x="7360920" y="1710000"/>
            <a:ext cx="164160" cy="22680"/>
          </a:xfrm>
          <a:prstGeom prst="rect">
            <a:avLst/>
          </a:prstGeom>
          <a:solidFill>
            <a:srgbClr val="a0a0a0">
              <a:alpha val="60000"/>
            </a:srgbClr>
          </a:solidFill>
          <a:ln w="12700">
            <a:solidFill>
              <a:srgbClr val="a0a0a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Shape 28"/>
          <p:cNvSpPr/>
          <p:nvPr/>
        </p:nvSpPr>
        <p:spPr>
          <a:xfrm>
            <a:off x="7543800" y="1051560"/>
            <a:ext cx="1279800" cy="1416960"/>
          </a:xfrm>
          <a:prstGeom prst="rect">
            <a:avLst/>
          </a:prstGeom>
          <a:solidFill>
            <a:srgbClr val="16213e"/>
          </a:solidFill>
          <a:ln w="12700">
            <a:solidFill>
              <a:srgbClr val="f4433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9" name="Shape 29"/>
          <p:cNvSpPr/>
          <p:nvPr/>
        </p:nvSpPr>
        <p:spPr>
          <a:xfrm>
            <a:off x="7543800" y="1051560"/>
            <a:ext cx="1279800" cy="38376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0" name="Text 30"/>
          <p:cNvSpPr/>
          <p:nvPr/>
        </p:nvSpPr>
        <p:spPr>
          <a:xfrm>
            <a:off x="7543800" y="1051560"/>
            <a:ext cx="1279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4.6</a:t>
            </a:r>
            <a:endParaRPr b="0" lang="pt-BR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1" name="Text 31"/>
          <p:cNvSpPr/>
          <p:nvPr/>
        </p:nvSpPr>
        <p:spPr>
          <a:xfrm>
            <a:off x="7589520" y="1481400"/>
            <a:ext cx="1188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Storytelling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&amp; Conclusões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2" name="Shape 32"/>
          <p:cNvSpPr/>
          <p:nvPr/>
        </p:nvSpPr>
        <p:spPr>
          <a:xfrm>
            <a:off x="228600" y="2633400"/>
            <a:ext cx="2742840" cy="1508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3" name="Shape 33"/>
          <p:cNvSpPr/>
          <p:nvPr/>
        </p:nvSpPr>
        <p:spPr>
          <a:xfrm>
            <a:off x="228600" y="2633400"/>
            <a:ext cx="63720" cy="15084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4" name="Text 34"/>
          <p:cNvSpPr/>
          <p:nvPr/>
        </p:nvSpPr>
        <p:spPr>
          <a:xfrm>
            <a:off x="365760" y="268848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196f3"/>
                </a:solidFill>
                <a:uFillTx/>
                <a:latin typeface="Calibri"/>
                <a:ea typeface="Calibri"/>
              </a:rPr>
              <a:t>Exploração Inicial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5" name="Text 35"/>
          <p:cNvSpPr/>
          <p:nvPr/>
        </p:nvSpPr>
        <p:spPr>
          <a:xfrm>
            <a:off x="365760" y="3017520"/>
            <a:ext cx="25142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e0e0e0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.info()  .describe()  .isnull()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a0a0a0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Coeficiente de Variação (CV)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0e0e0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Identificação de outliers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6" name="Shape 36"/>
          <p:cNvSpPr/>
          <p:nvPr/>
        </p:nvSpPr>
        <p:spPr>
          <a:xfrm>
            <a:off x="3108960" y="2633400"/>
            <a:ext cx="2742840" cy="1508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7" name="Shape 37"/>
          <p:cNvSpPr/>
          <p:nvPr/>
        </p:nvSpPr>
        <p:spPr>
          <a:xfrm>
            <a:off x="3108960" y="2633400"/>
            <a:ext cx="63720" cy="150840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Text 38"/>
          <p:cNvSpPr/>
          <p:nvPr/>
        </p:nvSpPr>
        <p:spPr>
          <a:xfrm>
            <a:off x="3246120" y="268848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9800"/>
                </a:solidFill>
                <a:uFillTx/>
                <a:latin typeface="Calibri"/>
                <a:ea typeface="Calibri"/>
              </a:rPr>
              <a:t>Análises Bivariada &amp; Categórica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9" name="Text 39"/>
          <p:cNvSpPr/>
          <p:nvPr/>
        </p:nvSpPr>
        <p:spPr>
          <a:xfrm>
            <a:off x="3246120" y="3017520"/>
            <a:ext cx="25142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e0e0e0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Correlação de Pearson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a0a0a0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Pivot tables e crosstab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0e0e0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Comparações por grupo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0" name="Shape 40"/>
          <p:cNvSpPr/>
          <p:nvPr/>
        </p:nvSpPr>
        <p:spPr>
          <a:xfrm>
            <a:off x="5989320" y="2633400"/>
            <a:ext cx="2742840" cy="1508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1" name="Shape 41"/>
          <p:cNvSpPr/>
          <p:nvPr/>
        </p:nvSpPr>
        <p:spPr>
          <a:xfrm>
            <a:off x="5989320" y="2633400"/>
            <a:ext cx="63720" cy="15084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2" name="Text 42"/>
          <p:cNvSpPr/>
          <p:nvPr/>
        </p:nvSpPr>
        <p:spPr>
          <a:xfrm>
            <a:off x="6126480" y="268848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4caf50"/>
                </a:solidFill>
                <a:uFillTx/>
                <a:latin typeface="Calibri"/>
                <a:ea typeface="Calibri"/>
              </a:rPr>
              <a:t>Storytelling com Dados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3" name="Text 43"/>
          <p:cNvSpPr/>
          <p:nvPr/>
        </p:nvSpPr>
        <p:spPr>
          <a:xfrm>
            <a:off x="6126480" y="3017520"/>
            <a:ext cx="25142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e0e0e0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Dashboard narrativo (6 painéis)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a0a0a0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Contexto → Tensão → Resolução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0e0e0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Conclusões com evidências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4" name="Shape 44"/>
          <p:cNvSpPr/>
          <p:nvPr/>
        </p:nvSpPr>
        <p:spPr>
          <a:xfrm>
            <a:off x="228600" y="4617720"/>
            <a:ext cx="8686440" cy="292320"/>
          </a:xfrm>
          <a:prstGeom prst="rect">
            <a:avLst/>
          </a:prstGeom>
          <a:solidFill>
            <a:srgbClr val="4caf50">
              <a:alpha val="15000"/>
            </a:srgbClr>
          </a:solidFill>
          <a:ln w="12700">
            <a:solidFill>
              <a:srgbClr val="4caf5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5" name="Text 45"/>
          <p:cNvSpPr/>
          <p:nvPr/>
        </p:nvSpPr>
        <p:spPr>
          <a:xfrm>
            <a:off x="228600" y="4617720"/>
            <a:ext cx="8686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af50"/>
                </a:solidFill>
                <a:uFillTx/>
                <a:latin typeface="Calibri"/>
                <a:ea typeface="Calibri"/>
              </a:rPr>
              <a:t>5 Exercícios com gabarito completo  |  Inclui mini-storytelling e dashboard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0" y="0"/>
            <a:ext cx="9143640" cy="2923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182880" y="27360"/>
            <a:ext cx="8777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caf50"/>
                </a:solidFill>
                <a:uFillTx/>
                <a:latin typeface="Consolas"/>
                <a:ea typeface="Consolas"/>
              </a:rPr>
              <a:t># Projeto Final: O que determina o IDHM de um município brasileiro?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365760" y="41148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Projeto Final — EDA Completa</a:t>
            </a:r>
            <a:endParaRPr b="0" lang="pt-BR" sz="2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228600" y="1005840"/>
            <a:ext cx="8686440" cy="658080"/>
          </a:xfrm>
          <a:prstGeom prst="rect">
            <a:avLst/>
          </a:prstGeom>
          <a:solidFill>
            <a:srgbClr val="16213e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0" name="Shape 4"/>
          <p:cNvSpPr/>
          <p:nvPr/>
        </p:nvSpPr>
        <p:spPr>
          <a:xfrm>
            <a:off x="228600" y="1005840"/>
            <a:ext cx="63720" cy="6580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411480" y="1042560"/>
            <a:ext cx="8320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4caf50"/>
                </a:solidFill>
                <a:uFillTx/>
                <a:latin typeface="Calibri"/>
                <a:ea typeface="Calibri"/>
              </a:rPr>
              <a:t>Problema: </a:t>
            </a:r>
            <a:r>
              <a:rPr b="0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"O que determina o IDHM de um município brasileiro e como ele varia entre regiões, estados e categorias urbanas?"</a:t>
            </a:r>
            <a:endParaRPr b="0" lang="pt-BR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2" name="Shape 6"/>
          <p:cNvSpPr/>
          <p:nvPr/>
        </p:nvSpPr>
        <p:spPr>
          <a:xfrm>
            <a:off x="228600" y="1828800"/>
            <a:ext cx="2742840" cy="13255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228600" y="1828800"/>
            <a:ext cx="63720" cy="13255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365760" y="1901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caf50"/>
                </a:solidFill>
                <a:uFillTx/>
                <a:latin typeface="Calibri"/>
                <a:ea typeface="Calibri"/>
              </a:rPr>
              <a:t>P1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5" name="Text 9"/>
          <p:cNvSpPr/>
          <p:nvPr/>
        </p:nvSpPr>
        <p:spPr>
          <a:xfrm>
            <a:off x="365760" y="2212920"/>
            <a:ext cx="2468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Como o IDHM varia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entre as 5 regiões?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6" name="Shape 10"/>
          <p:cNvSpPr/>
          <p:nvPr/>
        </p:nvSpPr>
        <p:spPr>
          <a:xfrm>
            <a:off x="3154680" y="1828800"/>
            <a:ext cx="2742840" cy="13255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7" name="Shape 11"/>
          <p:cNvSpPr/>
          <p:nvPr/>
        </p:nvSpPr>
        <p:spPr>
          <a:xfrm>
            <a:off x="3154680" y="1828800"/>
            <a:ext cx="63720" cy="13255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8" name="Text 12"/>
          <p:cNvSpPr/>
          <p:nvPr/>
        </p:nvSpPr>
        <p:spPr>
          <a:xfrm>
            <a:off x="3291840" y="1901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196f3"/>
                </a:solidFill>
                <a:uFillTx/>
                <a:latin typeface="Calibri"/>
                <a:ea typeface="Calibri"/>
              </a:rPr>
              <a:t>P2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9" name="Text 13"/>
          <p:cNvSpPr/>
          <p:nvPr/>
        </p:nvSpPr>
        <p:spPr>
          <a:xfrm>
            <a:off x="3291840" y="2212920"/>
            <a:ext cx="2468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Quais variáveis têm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maior correlação?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0" name="Shape 14"/>
          <p:cNvSpPr/>
          <p:nvPr/>
        </p:nvSpPr>
        <p:spPr>
          <a:xfrm>
            <a:off x="6080760" y="1828800"/>
            <a:ext cx="2742840" cy="13255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Shape 15"/>
          <p:cNvSpPr/>
          <p:nvPr/>
        </p:nvSpPr>
        <p:spPr>
          <a:xfrm>
            <a:off x="6080760" y="1828800"/>
            <a:ext cx="63720" cy="13255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2" name="Text 16"/>
          <p:cNvSpPr/>
          <p:nvPr/>
        </p:nvSpPr>
        <p:spPr>
          <a:xfrm>
            <a:off x="6217920" y="1901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bcd4"/>
                </a:solidFill>
                <a:uFillTx/>
                <a:latin typeface="Calibri"/>
                <a:ea typeface="Calibri"/>
              </a:rPr>
              <a:t>P3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3" name="Text 17"/>
          <p:cNvSpPr/>
          <p:nvPr/>
        </p:nvSpPr>
        <p:spPr>
          <a:xfrm>
            <a:off x="6217920" y="2212920"/>
            <a:ext cx="2468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Qual o grau de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desigualdade interna?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4" name="Shape 18"/>
          <p:cNvSpPr/>
          <p:nvPr/>
        </p:nvSpPr>
        <p:spPr>
          <a:xfrm>
            <a:off x="228600" y="3337560"/>
            <a:ext cx="2742840" cy="13255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5" name="Shape 19"/>
          <p:cNvSpPr/>
          <p:nvPr/>
        </p:nvSpPr>
        <p:spPr>
          <a:xfrm>
            <a:off x="228600" y="3337560"/>
            <a:ext cx="63720" cy="13255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Text 20"/>
          <p:cNvSpPr/>
          <p:nvPr/>
        </p:nvSpPr>
        <p:spPr>
          <a:xfrm>
            <a:off x="365760" y="34106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9800"/>
                </a:solidFill>
                <a:uFillTx/>
                <a:latin typeface="Calibri"/>
                <a:ea typeface="Calibri"/>
              </a:rPr>
              <a:t>P4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7" name="Text 21"/>
          <p:cNvSpPr/>
          <p:nvPr/>
        </p:nvSpPr>
        <p:spPr>
          <a:xfrm>
            <a:off x="365760" y="3721680"/>
            <a:ext cx="2468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Capitais têm IDHM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sistematicamente maior?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8" name="Shape 22"/>
          <p:cNvSpPr/>
          <p:nvPr/>
        </p:nvSpPr>
        <p:spPr>
          <a:xfrm>
            <a:off x="3154680" y="3337560"/>
            <a:ext cx="2742840" cy="13255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9" name="Shape 23"/>
          <p:cNvSpPr/>
          <p:nvPr/>
        </p:nvSpPr>
        <p:spPr>
          <a:xfrm>
            <a:off x="3154680" y="3337560"/>
            <a:ext cx="63720" cy="132552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0" name="Text 24"/>
          <p:cNvSpPr/>
          <p:nvPr/>
        </p:nvSpPr>
        <p:spPr>
          <a:xfrm>
            <a:off x="3291840" y="34106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9c27b0"/>
                </a:solidFill>
                <a:uFillTx/>
                <a:latin typeface="Calibri"/>
                <a:ea typeface="Calibri"/>
              </a:rPr>
              <a:t>P5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1" name="Text 25"/>
          <p:cNvSpPr/>
          <p:nvPr/>
        </p:nvSpPr>
        <p:spPr>
          <a:xfrm>
            <a:off x="3291840" y="3721680"/>
            <a:ext cx="2468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Qual componente é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o gargalo por região?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2" name="Shape 26"/>
          <p:cNvSpPr/>
          <p:nvPr/>
        </p:nvSpPr>
        <p:spPr>
          <a:xfrm>
            <a:off x="6080760" y="3337560"/>
            <a:ext cx="2742840" cy="13255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3" name="Shape 27"/>
          <p:cNvSpPr/>
          <p:nvPr/>
        </p:nvSpPr>
        <p:spPr>
          <a:xfrm>
            <a:off x="6080760" y="3337560"/>
            <a:ext cx="63720" cy="132552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4" name="Text 28"/>
          <p:cNvSpPr/>
          <p:nvPr/>
        </p:nvSpPr>
        <p:spPr>
          <a:xfrm>
            <a:off x="6217920" y="34106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4336"/>
                </a:solidFill>
                <a:uFillTx/>
                <a:latin typeface="Calibri"/>
                <a:ea typeface="Calibri"/>
              </a:rPr>
              <a:t>P6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5" name="Text 29"/>
          <p:cNvSpPr/>
          <p:nvPr/>
        </p:nvSpPr>
        <p:spPr>
          <a:xfrm>
            <a:off x="6217920" y="3721680"/>
            <a:ext cx="2468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Municípios maiores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são mais desenvolvidos?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0" y="0"/>
            <a:ext cx="9143640" cy="2923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182880" y="27360"/>
            <a:ext cx="8777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caf50"/>
                </a:solidFill>
                <a:uFillTx/>
                <a:latin typeface="Consolas"/>
                <a:ea typeface="Consolas"/>
              </a:rPr>
              <a:t>print(insights)  # Top 5 descobertas da análise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365760" y="41148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Principais Insights do Projeto</a:t>
            </a:r>
            <a:endParaRPr b="0" lang="pt-BR" sz="2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228600" y="1005840"/>
            <a:ext cx="8686440" cy="712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0" name="Shape 4"/>
          <p:cNvSpPr/>
          <p:nvPr/>
        </p:nvSpPr>
        <p:spPr>
          <a:xfrm>
            <a:off x="228600" y="1005840"/>
            <a:ext cx="63720" cy="71280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1" name="Shape 5"/>
          <p:cNvSpPr/>
          <p:nvPr/>
        </p:nvSpPr>
        <p:spPr>
          <a:xfrm>
            <a:off x="292680" y="1078920"/>
            <a:ext cx="438480" cy="438480"/>
          </a:xfrm>
          <a:prstGeom prst="rect">
            <a:avLst/>
          </a:prstGeom>
          <a:solidFill>
            <a:srgbClr val="f44336">
              <a:alpha val="25000"/>
            </a:srgbClr>
          </a:solidFill>
          <a:ln w="12700">
            <a:solidFill>
              <a:srgbClr val="f44336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2" name="Text 6"/>
          <p:cNvSpPr/>
          <p:nvPr/>
        </p:nvSpPr>
        <p:spPr>
          <a:xfrm>
            <a:off x="292680" y="107892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4336"/>
                </a:solidFill>
                <a:uFillTx/>
                <a:latin typeface="Calibri"/>
                <a:ea typeface="Calibri"/>
              </a:rPr>
              <a:t>01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822960" y="107892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44336"/>
                </a:solidFill>
                <a:uFillTx/>
                <a:latin typeface="Calibri"/>
                <a:ea typeface="Calibri"/>
              </a:rPr>
              <a:t>Desigualdade Regional Estrutural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822960" y="135324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Os 10 municípios com menor IDHM são todos do Norte/Nordeste; os 10 maiores são todos do Sul/Sudeste. O gap ultrapassa 0,30 pontos.</a:t>
            </a:r>
            <a:endParaRPr b="0" lang="pt-BR" sz="10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5" name="Shape 9"/>
          <p:cNvSpPr/>
          <p:nvPr/>
        </p:nvSpPr>
        <p:spPr>
          <a:xfrm>
            <a:off x="228600" y="1810440"/>
            <a:ext cx="8686440" cy="712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228600" y="1810440"/>
            <a:ext cx="63720" cy="71280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Shape 11"/>
          <p:cNvSpPr/>
          <p:nvPr/>
        </p:nvSpPr>
        <p:spPr>
          <a:xfrm>
            <a:off x="292680" y="1883520"/>
            <a:ext cx="438480" cy="438480"/>
          </a:xfrm>
          <a:prstGeom prst="rect">
            <a:avLst/>
          </a:prstGeom>
          <a:solidFill>
            <a:srgbClr val="ff9800">
              <a:alpha val="25000"/>
            </a:srgbClr>
          </a:solidFill>
          <a:ln w="12700">
            <a:solidFill>
              <a:srgbClr val="ff980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Text 12"/>
          <p:cNvSpPr/>
          <p:nvPr/>
        </p:nvSpPr>
        <p:spPr>
          <a:xfrm>
            <a:off x="292680" y="188352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9800"/>
                </a:solidFill>
                <a:uFillTx/>
                <a:latin typeface="Calibri"/>
                <a:ea typeface="Calibri"/>
              </a:rPr>
              <a:t>02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9" name="Text 13"/>
          <p:cNvSpPr/>
          <p:nvPr/>
        </p:nvSpPr>
        <p:spPr>
          <a:xfrm>
            <a:off x="822960" y="188352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9800"/>
                </a:solidFill>
                <a:uFillTx/>
                <a:latin typeface="Calibri"/>
                <a:ea typeface="Calibri"/>
              </a:rPr>
              <a:t>Educação é o Gargalo Universal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0" name="Text 14"/>
          <p:cNvSpPr/>
          <p:nvPr/>
        </p:nvSpPr>
        <p:spPr>
          <a:xfrm>
            <a:off x="822960" y="215784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Em todas as 5 regiões, IDHM_Educação é o componente mais baixo. Políticas educacionais têm o maior impacto marginal potencial.</a:t>
            </a:r>
            <a:endParaRPr b="0" lang="pt-BR" sz="10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1" name="Shape 15"/>
          <p:cNvSpPr/>
          <p:nvPr/>
        </p:nvSpPr>
        <p:spPr>
          <a:xfrm>
            <a:off x="228600" y="2615040"/>
            <a:ext cx="8686440" cy="712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2" name="Shape 16"/>
          <p:cNvSpPr/>
          <p:nvPr/>
        </p:nvSpPr>
        <p:spPr>
          <a:xfrm>
            <a:off x="228600" y="2615040"/>
            <a:ext cx="63720" cy="712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3" name="Shape 17"/>
          <p:cNvSpPr/>
          <p:nvPr/>
        </p:nvSpPr>
        <p:spPr>
          <a:xfrm>
            <a:off x="292680" y="2688480"/>
            <a:ext cx="438480" cy="438480"/>
          </a:xfrm>
          <a:prstGeom prst="rect">
            <a:avLst/>
          </a:prstGeom>
          <a:solidFill>
            <a:srgbClr val="00bcd4">
              <a:alpha val="25000"/>
            </a:srgbClr>
          </a:solidFill>
          <a:ln w="12700">
            <a:solidFill>
              <a:srgbClr val="00bcd4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4" name="Text 18"/>
          <p:cNvSpPr/>
          <p:nvPr/>
        </p:nvSpPr>
        <p:spPr>
          <a:xfrm>
            <a:off x="292680" y="268848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bcd4"/>
                </a:solidFill>
                <a:uFillTx/>
                <a:latin typeface="Calibri"/>
                <a:ea typeface="Calibri"/>
              </a:rPr>
              <a:t>03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5" name="Text 19"/>
          <p:cNvSpPr/>
          <p:nvPr/>
        </p:nvSpPr>
        <p:spPr>
          <a:xfrm>
            <a:off x="822960" y="268848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bcd4"/>
                </a:solidFill>
                <a:uFillTx/>
                <a:latin typeface="Calibri"/>
                <a:ea typeface="Calibri"/>
              </a:rPr>
              <a:t>A Média Estadual Engana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6" name="Text 20"/>
          <p:cNvSpPr/>
          <p:nvPr/>
        </p:nvSpPr>
        <p:spPr>
          <a:xfrm>
            <a:off x="822960" y="296280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Estados como SP e MG têm alta heterogeneidade interna — municípios de alto e baixo IDHM coexistem. Foco deve ser municipal.</a:t>
            </a:r>
            <a:endParaRPr b="0" lang="pt-BR" sz="10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7" name="Shape 21"/>
          <p:cNvSpPr/>
          <p:nvPr/>
        </p:nvSpPr>
        <p:spPr>
          <a:xfrm>
            <a:off x="228600" y="3420000"/>
            <a:ext cx="8686440" cy="712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8" name="Shape 22"/>
          <p:cNvSpPr/>
          <p:nvPr/>
        </p:nvSpPr>
        <p:spPr>
          <a:xfrm>
            <a:off x="228600" y="3420000"/>
            <a:ext cx="63720" cy="7128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9" name="Shape 23"/>
          <p:cNvSpPr/>
          <p:nvPr/>
        </p:nvSpPr>
        <p:spPr>
          <a:xfrm>
            <a:off x="292680" y="3493080"/>
            <a:ext cx="438480" cy="438480"/>
          </a:xfrm>
          <a:prstGeom prst="rect">
            <a:avLst/>
          </a:prstGeom>
          <a:solidFill>
            <a:srgbClr val="4caf50">
              <a:alpha val="25000"/>
            </a:srgbClr>
          </a:solidFill>
          <a:ln w="12700">
            <a:solidFill>
              <a:srgbClr val="4caf5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0" name="Text 24"/>
          <p:cNvSpPr/>
          <p:nvPr/>
        </p:nvSpPr>
        <p:spPr>
          <a:xfrm>
            <a:off x="292680" y="349308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caf50"/>
                </a:solidFill>
                <a:uFillTx/>
                <a:latin typeface="Calibri"/>
                <a:ea typeface="Calibri"/>
              </a:rPr>
              <a:t>04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1" name="Text 25"/>
          <p:cNvSpPr/>
          <p:nvPr/>
        </p:nvSpPr>
        <p:spPr>
          <a:xfrm>
            <a:off x="822960" y="349308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4caf50"/>
                </a:solidFill>
                <a:uFillTx/>
                <a:latin typeface="Calibri"/>
                <a:ea typeface="Calibri"/>
              </a:rPr>
              <a:t>Tamanho ≠ Desenvolvimento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2" name="Text 26"/>
          <p:cNvSpPr/>
          <p:nvPr/>
        </p:nvSpPr>
        <p:spPr>
          <a:xfrm>
            <a:off x="822960" y="376740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Área geográfica tem correlação ~0 com o IDHM. Municípios pequenos do Sul superam grandes cidades do Norte.</a:t>
            </a:r>
            <a:endParaRPr b="0" lang="pt-BR" sz="10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3" name="Shape 27"/>
          <p:cNvSpPr/>
          <p:nvPr/>
        </p:nvSpPr>
        <p:spPr>
          <a:xfrm>
            <a:off x="228600" y="4224600"/>
            <a:ext cx="8686440" cy="712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4" name="Shape 28"/>
          <p:cNvSpPr/>
          <p:nvPr/>
        </p:nvSpPr>
        <p:spPr>
          <a:xfrm>
            <a:off x="228600" y="4224600"/>
            <a:ext cx="63720" cy="7128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5" name="Shape 29"/>
          <p:cNvSpPr/>
          <p:nvPr/>
        </p:nvSpPr>
        <p:spPr>
          <a:xfrm>
            <a:off x="292680" y="4297680"/>
            <a:ext cx="438480" cy="438480"/>
          </a:xfrm>
          <a:prstGeom prst="rect">
            <a:avLst/>
          </a:prstGeom>
          <a:solidFill>
            <a:srgbClr val="2196f3">
              <a:alpha val="25000"/>
            </a:srgbClr>
          </a:solidFill>
          <a:ln w="12700">
            <a:solidFill>
              <a:srgbClr val="2196f3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6" name="Text 30"/>
          <p:cNvSpPr/>
          <p:nvPr/>
        </p:nvSpPr>
        <p:spPr>
          <a:xfrm>
            <a:off x="292680" y="429768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196f3"/>
                </a:solidFill>
                <a:uFillTx/>
                <a:latin typeface="Calibri"/>
                <a:ea typeface="Calibri"/>
              </a:rPr>
              <a:t>05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7" name="Text 31"/>
          <p:cNvSpPr/>
          <p:nvPr/>
        </p:nvSpPr>
        <p:spPr>
          <a:xfrm>
            <a:off x="822960" y="429768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196f3"/>
                </a:solidFill>
                <a:uFillTx/>
                <a:latin typeface="Calibri"/>
                <a:ea typeface="Calibri"/>
              </a:rPr>
              <a:t>Riqueza Ajuda, Mas Não Basta</a:t>
            </a:r>
            <a:endParaRPr b="0" lang="pt-BR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8" name="Text 32"/>
          <p:cNvSpPr/>
          <p:nvPr/>
        </p:nvSpPr>
        <p:spPr>
          <a:xfrm>
            <a:off x="822960" y="457200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PIB per capita tem correlação ~0,55 com IDHM (moderada). Eficiência na conversão de renda em bem-estar importa mais.</a:t>
            </a:r>
            <a:endParaRPr b="0" lang="pt-BR" sz="10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0" y="0"/>
            <a:ext cx="9143640" cy="2923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182880" y="27360"/>
            <a:ext cx="8777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caf50"/>
                </a:solidFill>
                <a:uFillTx/>
                <a:latin typeface="Consolas"/>
                <a:ea typeface="Consolas"/>
              </a:rPr>
              <a:t>df = pd.read_csv('brazilian_city.csv')  # 5.578 municípios × 79 variáveis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1" name="Text 2"/>
          <p:cNvSpPr/>
          <p:nvPr/>
        </p:nvSpPr>
        <p:spPr>
          <a:xfrm>
            <a:off x="365760" y="41148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Dataset &amp; Repositório</a:t>
            </a:r>
            <a:endParaRPr b="0" lang="pt-BR" sz="2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2" name="Shape 3"/>
          <p:cNvSpPr/>
          <p:nvPr/>
        </p:nvSpPr>
        <p:spPr>
          <a:xfrm>
            <a:off x="228600" y="1005840"/>
            <a:ext cx="4205880" cy="374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3" name="Shape 4"/>
          <p:cNvSpPr/>
          <p:nvPr/>
        </p:nvSpPr>
        <p:spPr>
          <a:xfrm>
            <a:off x="228600" y="1005840"/>
            <a:ext cx="63720" cy="37486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4" name="Text 5"/>
          <p:cNvSpPr/>
          <p:nvPr/>
        </p:nvSpPr>
        <p:spPr>
          <a:xfrm>
            <a:off x="365760" y="107892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bcd4"/>
                </a:solidFill>
                <a:uFillTx/>
                <a:latin typeface="Calibri"/>
                <a:ea typeface="Calibri"/>
              </a:rPr>
              <a:t>Brazilian Cities Dataset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5" name="Text 6"/>
          <p:cNvSpPr/>
          <p:nvPr/>
        </p:nvSpPr>
        <p:spPr>
          <a:xfrm>
            <a:off x="384120" y="149040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4caf50"/>
                </a:solidFill>
                <a:uFillTx/>
                <a:latin typeface="Calibri"/>
                <a:ea typeface="Calibri"/>
              </a:rPr>
              <a:t>5.578</a:t>
            </a:r>
            <a:endParaRPr b="0" lang="pt-BR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6" name="Text 7"/>
          <p:cNvSpPr/>
          <p:nvPr/>
        </p:nvSpPr>
        <p:spPr>
          <a:xfrm>
            <a:off x="1810440" y="152712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municípios brasileiros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7" name="Text 8"/>
          <p:cNvSpPr/>
          <p:nvPr/>
        </p:nvSpPr>
        <p:spPr>
          <a:xfrm>
            <a:off x="384120" y="189288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4caf50"/>
                </a:solidFill>
                <a:uFillTx/>
                <a:latin typeface="Calibri"/>
                <a:ea typeface="Calibri"/>
              </a:rPr>
              <a:t>79</a:t>
            </a:r>
            <a:endParaRPr b="0" lang="pt-BR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8" name="Text 9"/>
          <p:cNvSpPr/>
          <p:nvPr/>
        </p:nvSpPr>
        <p:spPr>
          <a:xfrm>
            <a:off x="1810440" y="192924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variáveis por município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9" name="Text 10"/>
          <p:cNvSpPr/>
          <p:nvPr/>
        </p:nvSpPr>
        <p:spPr>
          <a:xfrm>
            <a:off x="384120" y="229500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bcd4"/>
                </a:solidFill>
                <a:uFillTx/>
                <a:latin typeface="Calibri"/>
                <a:ea typeface="Calibri"/>
              </a:rPr>
              <a:t>IDHM</a:t>
            </a:r>
            <a:endParaRPr b="0" lang="pt-BR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0" name="Text 11"/>
          <p:cNvSpPr/>
          <p:nvPr/>
        </p:nvSpPr>
        <p:spPr>
          <a:xfrm>
            <a:off x="1810440" y="233172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Renda, Longevidade, Educação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1" name="Text 12"/>
          <p:cNvSpPr/>
          <p:nvPr/>
        </p:nvSpPr>
        <p:spPr>
          <a:xfrm>
            <a:off x="384120" y="269748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bcd4"/>
                </a:solidFill>
                <a:uFillTx/>
                <a:latin typeface="Calibri"/>
                <a:ea typeface="Calibri"/>
              </a:rPr>
              <a:t>GDP_CAPITA</a:t>
            </a:r>
            <a:endParaRPr b="0" lang="pt-BR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2" name="Text 13"/>
          <p:cNvSpPr/>
          <p:nvPr/>
        </p:nvSpPr>
        <p:spPr>
          <a:xfrm>
            <a:off x="1810440" y="273420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PIB per capita (R$)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3" name="Text 14"/>
          <p:cNvSpPr/>
          <p:nvPr/>
        </p:nvSpPr>
        <p:spPr>
          <a:xfrm>
            <a:off x="384120" y="309996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bcd4"/>
                </a:solidFill>
                <a:uFillTx/>
                <a:latin typeface="Calibri"/>
                <a:ea typeface="Calibri"/>
              </a:rPr>
              <a:t>POP_FINAL</a:t>
            </a:r>
            <a:endParaRPr b="0" lang="pt-BR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4" name="Text 15"/>
          <p:cNvSpPr/>
          <p:nvPr/>
        </p:nvSpPr>
        <p:spPr>
          <a:xfrm>
            <a:off x="1810440" y="313632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População (censo/estimada)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5" name="Text 16"/>
          <p:cNvSpPr/>
          <p:nvPr/>
        </p:nvSpPr>
        <p:spPr>
          <a:xfrm>
            <a:off x="384120" y="350208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bcd4"/>
                </a:solidFill>
                <a:uFillTx/>
                <a:latin typeface="Calibri"/>
                <a:ea typeface="Calibri"/>
              </a:rPr>
              <a:t>AREA</a:t>
            </a:r>
            <a:endParaRPr b="0" lang="pt-BR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6" name="Text 17"/>
          <p:cNvSpPr/>
          <p:nvPr/>
        </p:nvSpPr>
        <p:spPr>
          <a:xfrm>
            <a:off x="1810440" y="353880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Área em km²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7" name="Text 18"/>
          <p:cNvSpPr/>
          <p:nvPr/>
        </p:nvSpPr>
        <p:spPr>
          <a:xfrm>
            <a:off x="384120" y="390456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bcd4"/>
                </a:solidFill>
                <a:uFillTx/>
                <a:latin typeface="Calibri"/>
                <a:ea typeface="Calibri"/>
              </a:rPr>
              <a:t>STATE</a:t>
            </a:r>
            <a:endParaRPr b="0" lang="pt-BR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8" name="Text 19"/>
          <p:cNvSpPr/>
          <p:nvPr/>
        </p:nvSpPr>
        <p:spPr>
          <a:xfrm>
            <a:off x="1810440" y="394092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Estado (UF)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9" name="Text 20"/>
          <p:cNvSpPr/>
          <p:nvPr/>
        </p:nvSpPr>
        <p:spPr>
          <a:xfrm>
            <a:off x="384120" y="430668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bcd4"/>
                </a:solidFill>
                <a:uFillTx/>
                <a:latin typeface="Calibri"/>
                <a:ea typeface="Calibri"/>
              </a:rPr>
              <a:t>CAPITAL</a:t>
            </a:r>
            <a:endParaRPr b="0" lang="pt-BR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0" name="Text 21"/>
          <p:cNvSpPr/>
          <p:nvPr/>
        </p:nvSpPr>
        <p:spPr>
          <a:xfrm>
            <a:off x="1810440" y="434340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Capital estadual (0/1)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1" name="Shape 22"/>
          <p:cNvSpPr/>
          <p:nvPr/>
        </p:nvSpPr>
        <p:spPr>
          <a:xfrm>
            <a:off x="4709160" y="1005840"/>
            <a:ext cx="4205880" cy="374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2" name="Shape 23"/>
          <p:cNvSpPr/>
          <p:nvPr/>
        </p:nvSpPr>
        <p:spPr>
          <a:xfrm>
            <a:off x="4709160" y="1005840"/>
            <a:ext cx="63720" cy="37486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3" name="Text 24"/>
          <p:cNvSpPr/>
          <p:nvPr/>
        </p:nvSpPr>
        <p:spPr>
          <a:xfrm>
            <a:off x="4846320" y="107892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caf50"/>
                </a:solidFill>
                <a:uFillTx/>
                <a:latin typeface="Calibri"/>
                <a:ea typeface="Calibri"/>
              </a:rPr>
              <a:t>Estrutura do Repositório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4" name="Text 25"/>
          <p:cNvSpPr/>
          <p:nvPr/>
        </p:nvSpPr>
        <p:spPr>
          <a:xfrm>
            <a:off x="4846320" y="149040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a0a0a0"/>
                </a:solidFill>
                <a:uFillTx/>
                <a:latin typeface="Consolas"/>
                <a:ea typeface="Consolas"/>
              </a:rPr>
              <a:t>modulo-1/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5" name="Text 26"/>
          <p:cNvSpPr/>
          <p:nvPr/>
        </p:nvSpPr>
        <p:spPr>
          <a:xfrm>
            <a:off x="6812280" y="151776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Fundamentos de Python</a:t>
            </a:r>
            <a:endParaRPr b="0" lang="pt-BR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6" name="Text 27"/>
          <p:cNvSpPr/>
          <p:nvPr/>
        </p:nvSpPr>
        <p:spPr>
          <a:xfrm>
            <a:off x="4846320" y="183780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a0a0a0"/>
                </a:solidFill>
                <a:uFillTx/>
                <a:latin typeface="Consolas"/>
                <a:ea typeface="Consolas"/>
              </a:rPr>
              <a:t>modulo-2/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7" name="Text 28"/>
          <p:cNvSpPr/>
          <p:nvPr/>
        </p:nvSpPr>
        <p:spPr>
          <a:xfrm>
            <a:off x="6812280" y="186552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Manipulação com Pandas</a:t>
            </a:r>
            <a:endParaRPr b="0" lang="pt-BR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8" name="Text 29"/>
          <p:cNvSpPr/>
          <p:nvPr/>
        </p:nvSpPr>
        <p:spPr>
          <a:xfrm>
            <a:off x="4846320" y="218556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a0a0a0"/>
                </a:solidFill>
                <a:uFillTx/>
                <a:latin typeface="Consolas"/>
                <a:ea typeface="Consolas"/>
              </a:rPr>
              <a:t>modulo-3/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9" name="Text 30"/>
          <p:cNvSpPr/>
          <p:nvPr/>
        </p:nvSpPr>
        <p:spPr>
          <a:xfrm>
            <a:off x="6812280" y="221292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Visualização de Dados</a:t>
            </a:r>
            <a:endParaRPr b="0" lang="pt-BR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0" name="Text 31"/>
          <p:cNvSpPr/>
          <p:nvPr/>
        </p:nvSpPr>
        <p:spPr>
          <a:xfrm>
            <a:off x="4846320" y="253296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caf50"/>
                </a:solidFill>
                <a:uFillTx/>
                <a:latin typeface="Consolas"/>
                <a:ea typeface="Consolas"/>
              </a:rPr>
              <a:t>modulo-4/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1" name="Text 32"/>
          <p:cNvSpPr/>
          <p:nvPr/>
        </p:nvSpPr>
        <p:spPr>
          <a:xfrm>
            <a:off x="6812280" y="256032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EDA — Módulo 4  ✨ NOVO</a:t>
            </a:r>
            <a:endParaRPr b="0" lang="pt-BR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2" name="Text 33"/>
          <p:cNvSpPr/>
          <p:nvPr/>
        </p:nvSpPr>
        <p:spPr>
          <a:xfrm>
            <a:off x="4846320" y="288036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a0a0a0"/>
                </a:solidFill>
                <a:uFillTx/>
                <a:latin typeface="Consolas"/>
                <a:ea typeface="Consolas"/>
              </a:rPr>
              <a:t>  ├ </a:t>
            </a:r>
            <a:r>
              <a:rPr b="0" lang="en-US" sz="1000" strike="noStrike" u="none">
                <a:solidFill>
                  <a:srgbClr val="a0a0a0"/>
                </a:solidFill>
                <a:uFillTx/>
                <a:latin typeface="Consolas"/>
                <a:ea typeface="Consolas"/>
              </a:rPr>
              <a:t>notebook/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3" name="Text 34"/>
          <p:cNvSpPr/>
          <p:nvPr/>
        </p:nvSpPr>
        <p:spPr>
          <a:xfrm>
            <a:off x="6812280" y="290772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modulo4.ipynb</a:t>
            </a:r>
            <a:endParaRPr b="0" lang="pt-BR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4" name="Text 35"/>
          <p:cNvSpPr/>
          <p:nvPr/>
        </p:nvSpPr>
        <p:spPr>
          <a:xfrm>
            <a:off x="4846320" y="322776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a0a0a0"/>
                </a:solidFill>
                <a:uFillTx/>
                <a:latin typeface="Consolas"/>
                <a:ea typeface="Consolas"/>
              </a:rPr>
              <a:t>  └ </a:t>
            </a:r>
            <a:r>
              <a:rPr b="0" lang="en-US" sz="1000" strike="noStrike" u="none">
                <a:solidFill>
                  <a:srgbClr val="a0a0a0"/>
                </a:solidFill>
                <a:uFillTx/>
                <a:latin typeface="Consolas"/>
                <a:ea typeface="Consolas"/>
              </a:rPr>
              <a:t>exercicios/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5" name="Text 36"/>
          <p:cNvSpPr/>
          <p:nvPr/>
        </p:nvSpPr>
        <p:spPr>
          <a:xfrm>
            <a:off x="6812280" y="325512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gabarito_modulo4.ipynb</a:t>
            </a:r>
            <a:endParaRPr b="0" lang="pt-BR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6" name="Text 37"/>
          <p:cNvSpPr/>
          <p:nvPr/>
        </p:nvSpPr>
        <p:spPr>
          <a:xfrm>
            <a:off x="4846320" y="357516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caf50"/>
                </a:solidFill>
                <a:uFillTx/>
                <a:latin typeface="Consolas"/>
                <a:ea typeface="Consolas"/>
              </a:rPr>
              <a:t>projeto-final/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7" name="Text 38"/>
          <p:cNvSpPr/>
          <p:nvPr/>
        </p:nvSpPr>
        <p:spPr>
          <a:xfrm>
            <a:off x="6812280" y="360288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Análise EDA Completa  ✨ NOVO</a:t>
            </a:r>
            <a:endParaRPr b="0" lang="pt-BR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8" name="Text 39"/>
          <p:cNvSpPr/>
          <p:nvPr/>
        </p:nvSpPr>
        <p:spPr>
          <a:xfrm>
            <a:off x="4846320" y="39229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a0a0a0"/>
                </a:solidFill>
                <a:uFillTx/>
                <a:latin typeface="Consolas"/>
                <a:ea typeface="Consolas"/>
              </a:rPr>
              <a:t>  └ </a:t>
            </a:r>
            <a:r>
              <a:rPr b="0" lang="en-US" sz="1000" strike="noStrike" u="none">
                <a:solidFill>
                  <a:srgbClr val="a0a0a0"/>
                </a:solidFill>
                <a:uFillTx/>
                <a:latin typeface="Consolas"/>
                <a:ea typeface="Consolas"/>
              </a:rPr>
              <a:t>analise_final_eda.ipynb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9" name="Text 40"/>
          <p:cNvSpPr/>
          <p:nvPr/>
        </p:nvSpPr>
        <p:spPr>
          <a:xfrm>
            <a:off x="6812280" y="395028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6 perguntas respondidas</a:t>
            </a:r>
            <a:endParaRPr b="0" lang="pt-BR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0" name="Text 41"/>
          <p:cNvSpPr/>
          <p:nvPr/>
        </p:nvSpPr>
        <p:spPr>
          <a:xfrm>
            <a:off x="4846320" y="42703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caf50"/>
                </a:solidFill>
                <a:uFillTx/>
                <a:latin typeface="Consolas"/>
                <a:ea typeface="Consolas"/>
              </a:rPr>
              <a:t>README.md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1" name="Text 42"/>
          <p:cNvSpPr/>
          <p:nvPr/>
        </p:nvSpPr>
        <p:spPr>
          <a:xfrm>
            <a:off x="6812280" y="429768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Finalizado com ementa e estrutura</a:t>
            </a:r>
            <a:endParaRPr b="0" lang="pt-BR" sz="9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0" y="0"/>
            <a:ext cx="9143640" cy="2923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3" name="Text 1"/>
          <p:cNvSpPr/>
          <p:nvPr/>
        </p:nvSpPr>
        <p:spPr>
          <a:xfrm>
            <a:off x="182880" y="27360"/>
            <a:ext cx="8777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caf50"/>
                </a:solidFill>
                <a:uFillTx/>
                <a:latin typeface="Consolas"/>
                <a:ea typeface="Consolas"/>
              </a:rPr>
              <a:t>import pandas as pd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4" name="Shape 2"/>
          <p:cNvSpPr/>
          <p:nvPr/>
        </p:nvSpPr>
        <p:spPr>
          <a:xfrm>
            <a:off x="0" y="4846320"/>
            <a:ext cx="9143640" cy="2923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5" name="Text 3"/>
          <p:cNvSpPr/>
          <p:nvPr/>
        </p:nvSpPr>
        <p:spPr>
          <a:xfrm>
            <a:off x="182880" y="4873680"/>
            <a:ext cx="8777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caf50"/>
                </a:solidFill>
                <a:uFillTx/>
                <a:latin typeface="Consolas"/>
                <a:ea typeface="Consolas"/>
              </a:rPr>
              <a:t>def analyze_data():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6" name="Shape 4"/>
          <p:cNvSpPr/>
          <p:nvPr/>
        </p:nvSpPr>
        <p:spPr>
          <a:xfrm>
            <a:off x="822960" y="502920"/>
            <a:ext cx="7497720" cy="384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7" name="Shape 5"/>
          <p:cNvSpPr/>
          <p:nvPr/>
        </p:nvSpPr>
        <p:spPr>
          <a:xfrm>
            <a:off x="822960" y="502920"/>
            <a:ext cx="72720" cy="38401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8" name="Text 6"/>
          <p:cNvSpPr/>
          <p:nvPr/>
        </p:nvSpPr>
        <p:spPr>
          <a:xfrm>
            <a:off x="1005840" y="658440"/>
            <a:ext cx="7131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Progresso do Projeto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9" name="Shape 7"/>
          <p:cNvSpPr/>
          <p:nvPr/>
        </p:nvSpPr>
        <p:spPr>
          <a:xfrm>
            <a:off x="1508760" y="1115640"/>
            <a:ext cx="475200" cy="475200"/>
          </a:xfr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0" name="Text 8"/>
          <p:cNvSpPr/>
          <p:nvPr/>
        </p:nvSpPr>
        <p:spPr>
          <a:xfrm>
            <a:off x="1508760" y="11156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2e"/>
                </a:solidFill>
                <a:uFillTx/>
                <a:latin typeface="Calibri"/>
                <a:ea typeface="Calibri"/>
              </a:rPr>
              <a:t>✓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1" name="Shape 9"/>
          <p:cNvSpPr/>
          <p:nvPr/>
        </p:nvSpPr>
        <p:spPr>
          <a:xfrm>
            <a:off x="1984320" y="1325880"/>
            <a:ext cx="868320" cy="226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2" name="Text 10"/>
          <p:cNvSpPr/>
          <p:nvPr/>
        </p:nvSpPr>
        <p:spPr>
          <a:xfrm>
            <a:off x="1005840" y="169164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4caf50"/>
                </a:solidFill>
                <a:uFillTx/>
                <a:latin typeface="Calibri"/>
                <a:ea typeface="Calibri"/>
              </a:rPr>
              <a:t>Etapa 1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3" name="Text 11"/>
          <p:cNvSpPr/>
          <p:nvPr/>
        </p:nvSpPr>
        <p:spPr>
          <a:xfrm>
            <a:off x="914400" y="196596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Planejamento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4" name="Shape 12"/>
          <p:cNvSpPr/>
          <p:nvPr/>
        </p:nvSpPr>
        <p:spPr>
          <a:xfrm>
            <a:off x="3337560" y="1115640"/>
            <a:ext cx="475200" cy="475200"/>
          </a:xfr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5" name="Text 13"/>
          <p:cNvSpPr/>
          <p:nvPr/>
        </p:nvSpPr>
        <p:spPr>
          <a:xfrm>
            <a:off x="3337560" y="11156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2e"/>
                </a:solidFill>
                <a:uFillTx/>
                <a:latin typeface="Calibri"/>
                <a:ea typeface="Calibri"/>
              </a:rPr>
              <a:t>✓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6" name="Shape 14"/>
          <p:cNvSpPr/>
          <p:nvPr/>
        </p:nvSpPr>
        <p:spPr>
          <a:xfrm>
            <a:off x="3813120" y="1325880"/>
            <a:ext cx="868320" cy="226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7" name="Text 15"/>
          <p:cNvSpPr/>
          <p:nvPr/>
        </p:nvSpPr>
        <p:spPr>
          <a:xfrm>
            <a:off x="2834640" y="169164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4caf50"/>
                </a:solidFill>
                <a:uFillTx/>
                <a:latin typeface="Calibri"/>
                <a:ea typeface="Calibri"/>
              </a:rPr>
              <a:t>Etapa 2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8" name="Text 16"/>
          <p:cNvSpPr/>
          <p:nvPr/>
        </p:nvSpPr>
        <p:spPr>
          <a:xfrm>
            <a:off x="2743200" y="196596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Desenvolvimento Base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9" name="Shape 17"/>
          <p:cNvSpPr/>
          <p:nvPr/>
        </p:nvSpPr>
        <p:spPr>
          <a:xfrm>
            <a:off x="5166360" y="1115640"/>
            <a:ext cx="475200" cy="475200"/>
          </a:xfr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0" name="Text 18"/>
          <p:cNvSpPr/>
          <p:nvPr/>
        </p:nvSpPr>
        <p:spPr>
          <a:xfrm>
            <a:off x="5166360" y="11156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2e"/>
                </a:solidFill>
                <a:uFillTx/>
                <a:latin typeface="Calibri"/>
                <a:ea typeface="Calibri"/>
              </a:rPr>
              <a:t>✓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1" name="Shape 19"/>
          <p:cNvSpPr/>
          <p:nvPr/>
        </p:nvSpPr>
        <p:spPr>
          <a:xfrm>
            <a:off x="5641920" y="1325880"/>
            <a:ext cx="868320" cy="22680"/>
          </a:xfrm>
          <a:prstGeom prst="rect">
            <a:avLst/>
          </a:prstGeom>
          <a:solidFill>
            <a:srgbClr val="a0a0a0">
              <a:alpha val="40000"/>
            </a:srgbClr>
          </a:solidFill>
          <a:ln w="12700">
            <a:solidFill>
              <a:srgbClr val="a0a0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pt-B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Text 20"/>
          <p:cNvSpPr/>
          <p:nvPr/>
        </p:nvSpPr>
        <p:spPr>
          <a:xfrm>
            <a:off x="4663440" y="169164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4caf50"/>
                </a:solidFill>
                <a:uFillTx/>
                <a:latin typeface="Calibri"/>
                <a:ea typeface="Calibri"/>
              </a:rPr>
              <a:t>Etapa 3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3" name="Text 21"/>
          <p:cNvSpPr/>
          <p:nvPr/>
        </p:nvSpPr>
        <p:spPr>
          <a:xfrm>
            <a:off x="4572000" y="196596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0e0e0"/>
                </a:solidFill>
                <a:uFillTx/>
                <a:latin typeface="Calibri"/>
                <a:ea typeface="Calibri"/>
              </a:rPr>
              <a:t>Consolidação e Qualidade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4" name="Shape 22"/>
          <p:cNvSpPr/>
          <p:nvPr/>
        </p:nvSpPr>
        <p:spPr>
          <a:xfrm>
            <a:off x="6995160" y="1115640"/>
            <a:ext cx="475200" cy="475200"/>
          </a:xfrm>
          <a:solidFill>
            <a:srgbClr val="16213e"/>
          </a:solidFill>
          <a:ln w="12700">
            <a:solidFill>
              <a:srgbClr val="a0a0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5" name="Text 23"/>
          <p:cNvSpPr/>
          <p:nvPr/>
        </p:nvSpPr>
        <p:spPr>
          <a:xfrm>
            <a:off x="6995160" y="11156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4</a:t>
            </a:r>
            <a:endParaRPr b="0" lang="pt-B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6" name="Text 24"/>
          <p:cNvSpPr/>
          <p:nvPr/>
        </p:nvSpPr>
        <p:spPr>
          <a:xfrm>
            <a:off x="6492240" y="169164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Etapa 4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7" name="Text 25"/>
          <p:cNvSpPr/>
          <p:nvPr/>
        </p:nvSpPr>
        <p:spPr>
          <a:xfrm>
            <a:off x="6400800" y="196596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Publicação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8" name="Shape 26"/>
          <p:cNvSpPr/>
          <p:nvPr/>
        </p:nvSpPr>
        <p:spPr>
          <a:xfrm>
            <a:off x="1005840" y="2560320"/>
            <a:ext cx="7131960" cy="2008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9" name="Shape 27"/>
          <p:cNvSpPr/>
          <p:nvPr/>
        </p:nvSpPr>
        <p:spPr>
          <a:xfrm>
            <a:off x="1005840" y="2560320"/>
            <a:ext cx="5348880" cy="2008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0" name="Text 28"/>
          <p:cNvSpPr/>
          <p:nvPr/>
        </p:nvSpPr>
        <p:spPr>
          <a:xfrm>
            <a:off x="1005840" y="2578680"/>
            <a:ext cx="7131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a1a2e"/>
                </a:solidFill>
                <a:uFillTx/>
                <a:latin typeface="Calibri"/>
                <a:ea typeface="Calibri"/>
              </a:rPr>
              <a:t>75% concluído</a:t>
            </a:r>
            <a:endParaRPr b="0" lang="pt-B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1" name="Text 29"/>
          <p:cNvSpPr/>
          <p:nvPr/>
        </p:nvSpPr>
        <p:spPr>
          <a:xfrm>
            <a:off x="1005840" y="2926080"/>
            <a:ext cx="7131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4caf50"/>
                </a:solidFill>
                <a:uFillTx/>
                <a:latin typeface="Calibri"/>
                <a:ea typeface="Calibri"/>
              </a:rPr>
              <a:t>&gt; </a:t>
            </a:r>
            <a:r>
              <a:rPr b="1" lang="en-US" sz="3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Obrigado!</a:t>
            </a:r>
            <a:endParaRPr b="0" lang="pt-BR" sz="3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2" name="Text 30"/>
          <p:cNvSpPr/>
          <p:nvPr/>
        </p:nvSpPr>
        <p:spPr>
          <a:xfrm>
            <a:off x="1005840" y="3639240"/>
            <a:ext cx="7131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a0a0a0"/>
                </a:solidFill>
                <a:uFillTx/>
                <a:latin typeface="Calibri"/>
                <a:ea typeface="Calibri"/>
              </a:rPr>
              <a:t>Equipe G  |  T326 - Ciência de Dados  |  UNIFOR</a:t>
            </a:r>
            <a:endParaRPr b="0" lang="pt-BR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3" name="Text 31"/>
          <p:cNvSpPr/>
          <p:nvPr/>
        </p:nvSpPr>
        <p:spPr>
          <a:xfrm>
            <a:off x="1005840" y="3977640"/>
            <a:ext cx="7131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af50"/>
                </a:solidFill>
                <a:uFillTx/>
                <a:latin typeface="Calibri"/>
                <a:ea typeface="Calibri"/>
              </a:rPr>
              <a:t>Próxima entrega: Etapa 4 — Publicação e Avaliação de Impacto</a:t>
            </a:r>
            <a:endParaRPr b="0" lang="pt-BR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LibreOffice/24.8.0.3$MacOSX_AARCH64 LibreOffice_project/0bdf1299c94fe897b119f97f3c613e9dca6be583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2026-04-23T21:41:21Z</dcterms:created>
  <dc:creator>Equipe E | T326 Ciência de Dados | UNIFOR</dc:creator>
  <dc:description/>
  <dc:language>pt-BR</dc:language>
  <cp:lastModifiedBy/>
  <cp:lastPrinted>2026-04-23T18:43:16Z</cp:lastPrinted>
  <dcterms:modified xsi:type="dcterms:W3CDTF">2026-04-23T19:12:38Z</dcterms:modified>
  <cp:revision>3</cp:revision>
  <dc:subject>PptxGenJS Presentation</dc:subject>
  <dc:title>Entrega 3 — Consolidação e Qualidade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