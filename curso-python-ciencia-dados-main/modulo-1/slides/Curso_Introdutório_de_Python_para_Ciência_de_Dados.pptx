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42875" y="-142875"/>
            <a:ext cx="9772650" cy="11304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FFFFFF">
                    <a:alpha val="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 pandas as pd</a:t>
            </a:r>
            <a:endParaRPr lang="en-US" sz="6218" dirty="0"/>
          </a:p>
        </p:txBody>
      </p:sp>
      <p:sp>
        <p:nvSpPr>
          <p:cNvPr id="4" name="Text 1"/>
          <p:cNvSpPr/>
          <p:nvPr/>
        </p:nvSpPr>
        <p:spPr>
          <a:xfrm>
            <a:off x="-485775" y="4298752"/>
            <a:ext cx="9772650" cy="11304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FFFFFF">
                    <a:alpha val="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def analyze_data():</a:t>
            </a:r>
            <a:endParaRPr lang="en-US" sz="6218" dirty="0"/>
          </a:p>
        </p:txBody>
      </p:sp>
      <p:sp>
        <p:nvSpPr>
          <p:cNvPr id="5" name="Shape 2"/>
          <p:cNvSpPr/>
          <p:nvPr/>
        </p:nvSpPr>
        <p:spPr>
          <a:xfrm>
            <a:off x="1000125" y="568458"/>
            <a:ext cx="7143750" cy="4006555"/>
          </a:xfrm>
          <a:prstGeom prst="rect">
            <a:avLst/>
          </a:prstGeom>
          <a:solidFill>
            <a:srgbClr val="282828">
              <a:alpha val="8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00125" y="568458"/>
            <a:ext cx="42863" cy="400655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4"/>
          <p:cNvSpPr/>
          <p:nvPr/>
        </p:nvSpPr>
        <p:spPr>
          <a:xfrm>
            <a:off x="1428750" y="997083"/>
            <a:ext cx="6286500" cy="144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Curso Introdutório de </a:t>
            </a:r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 </a:t>
            </a:r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para Ciência de Dados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1428750" y="2887303"/>
            <a:ext cx="628650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Universidade de Fortaleza (UNIFOR)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1428750" y="3308784"/>
            <a:ext cx="6286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Atividade Extensionista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1428750" y="3623109"/>
            <a:ext cx="6286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Disciplina: T326 - Ciência de Dados</a:t>
            </a:r>
            <a:endParaRPr lang="en-US" sz="1269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27" y="3988333"/>
            <a:ext cx="178594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9958" y="3973153"/>
            <a:ext cx="17859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Rilder de Sousa Pires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208" y="3988333"/>
            <a:ext cx="125016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16661" y="3973153"/>
            <a:ext cx="125908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Aluno: Saul Santos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059" y="3988333"/>
            <a:ext cx="178594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40091" y="3973153"/>
            <a:ext cx="43398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T35EF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428625"/>
            <a:ext cx="3491508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Objetivo do Curso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66217"/>
            <a:ext cx="3786188" cy="380884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curso visa </a:t>
            </a:r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planejar, </a:t>
            </a:r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desenvolver, aplicar e avaliar</a:t>
            </a:r>
            <a:pPr algn="l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um </a:t>
            </a:r>
            <a:pPr algn="l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 introdutório de Python </a:t>
            </a:r>
            <a:pPr algn="l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voltado à Ciência de Dados, </a:t>
            </a:r>
            <a:pPr algn="l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promovendo a integração entre </a:t>
            </a:r>
            <a:pPr algn="l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universidade e comunidade.</a:t>
            </a:r>
            <a:endParaRPr lang="en-US" sz="170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1344811"/>
            <a:ext cx="250031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79219" y="1309092"/>
            <a:ext cx="339328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Formação Básica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5179219" y="1600898"/>
            <a:ext cx="303252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Programação, manipulação, análise e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5179219" y="1840911"/>
            <a:ext cx="185380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 de dados.</a:t>
            </a:r>
            <a:endParaRPr lang="en-US" sz="1269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2314882"/>
            <a:ext cx="200025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29213" y="2279163"/>
            <a:ext cx="344328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Desenvolvimento Cognitivo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5129213" y="2570969"/>
            <a:ext cx="327898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Estímulo ao pensamento lógico, crítico e</a:t>
            </a:r>
            <a:endParaRPr lang="en-US" sz="1269" dirty="0"/>
          </a:p>
        </p:txBody>
      </p:sp>
      <p:sp>
        <p:nvSpPr>
          <p:cNvPr id="12" name="Text 7"/>
          <p:cNvSpPr/>
          <p:nvPr/>
        </p:nvSpPr>
        <p:spPr>
          <a:xfrm>
            <a:off x="5129213" y="2810982"/>
            <a:ext cx="7250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analítico.</a:t>
            </a:r>
            <a:endParaRPr lang="en-US" sz="1269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3284953"/>
            <a:ext cx="250031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79219" y="3249234"/>
            <a:ext cx="339328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Democratização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5179219" y="3541040"/>
            <a:ext cx="284678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Ampliar o acesso ao conhecimento</a:t>
            </a:r>
            <a:endParaRPr lang="en-US" sz="1269" dirty="0"/>
          </a:p>
        </p:txBody>
      </p:sp>
      <p:sp>
        <p:nvSpPr>
          <p:cNvPr id="16" name="Text 10"/>
          <p:cNvSpPr/>
          <p:nvPr/>
        </p:nvSpPr>
        <p:spPr>
          <a:xfrm>
            <a:off x="5179219" y="3781053"/>
            <a:ext cx="319682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tecnológico e suas aplicações práticas.</a:t>
            </a:r>
            <a:endParaRPr lang="en-US" sz="1269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4255024"/>
            <a:ext cx="200025" cy="2000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29213" y="4219305"/>
            <a:ext cx="344328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Contexto Profissional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5129213" y="4511111"/>
            <a:ext cx="324147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Preparação para o cenário acadêmico e</a:t>
            </a:r>
            <a:endParaRPr lang="en-US" sz="1269" dirty="0"/>
          </a:p>
        </p:txBody>
      </p:sp>
      <p:sp>
        <p:nvSpPr>
          <p:cNvPr id="20" name="Text 13"/>
          <p:cNvSpPr/>
          <p:nvPr/>
        </p:nvSpPr>
        <p:spPr>
          <a:xfrm>
            <a:off x="5129213" y="4751124"/>
            <a:ext cx="173414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mercado de trabalho.</a:t>
            </a:r>
            <a:endParaRPr lang="en-US" sz="12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428625"/>
            <a:ext cx="2464594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Público-Alvo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1000125" y="1166217"/>
            <a:ext cx="71437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curso é direcionado para interessados em iniciar na área de </a:t>
            </a:r>
            <a:pPr algn="ctr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programação, especialmente em </a:t>
            </a:r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aplicado à Ciência de </a:t>
            </a:r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</a:t>
            </a:r>
            <a:pPr algn="ctr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291" y="2623542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3109317"/>
            <a:ext cx="2476481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Estudantes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789970" y="3476858"/>
            <a:ext cx="203954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Ensino médio, técnico ou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633701" y="3716871"/>
            <a:ext cx="235208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superior buscando formação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1206987" y="3956884"/>
            <a:ext cx="12055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complementar.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22" y="2623542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33731" y="3109317"/>
            <a:ext cx="2476509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Profissionais</a:t>
            </a:r>
            <a:endParaRPr lang="en-US" sz="1397" dirty="0"/>
          </a:p>
        </p:txBody>
      </p:sp>
      <p:sp>
        <p:nvSpPr>
          <p:cNvPr id="12" name="Text 7"/>
          <p:cNvSpPr/>
          <p:nvPr/>
        </p:nvSpPr>
        <p:spPr>
          <a:xfrm>
            <a:off x="3454868" y="3476858"/>
            <a:ext cx="22342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transição de carreira ou</a:t>
            </a:r>
            <a:endParaRPr lang="en-US" sz="1269" dirty="0"/>
          </a:p>
        </p:txBody>
      </p:sp>
      <p:sp>
        <p:nvSpPr>
          <p:cNvPr id="13" name="Text 8"/>
          <p:cNvSpPr/>
          <p:nvPr/>
        </p:nvSpPr>
        <p:spPr>
          <a:xfrm>
            <a:off x="3683468" y="3716871"/>
            <a:ext cx="17770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buscando atualização</a:t>
            </a:r>
            <a:endParaRPr lang="en-US" sz="1269" dirty="0"/>
          </a:p>
        </p:txBody>
      </p:sp>
      <p:sp>
        <p:nvSpPr>
          <p:cNvPr id="14" name="Text 9"/>
          <p:cNvSpPr/>
          <p:nvPr/>
        </p:nvSpPr>
        <p:spPr>
          <a:xfrm>
            <a:off x="4074589" y="3956884"/>
            <a:ext cx="99476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tecnológica.</a:t>
            </a:r>
            <a:endParaRPr lang="en-US" sz="1269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81" y="2623542"/>
            <a:ext cx="342900" cy="342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95991" y="3109317"/>
            <a:ext cx="2476481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Comunidade</a:t>
            </a:r>
            <a:endParaRPr lang="en-US" sz="1397" dirty="0"/>
          </a:p>
        </p:txBody>
      </p:sp>
      <p:sp>
        <p:nvSpPr>
          <p:cNvPr id="17" name="Text 11"/>
          <p:cNvSpPr/>
          <p:nvPr/>
        </p:nvSpPr>
        <p:spPr>
          <a:xfrm>
            <a:off x="6342143" y="3476858"/>
            <a:ext cx="198417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Demais interessados em</a:t>
            </a:r>
            <a:endParaRPr lang="en-US" sz="1269" dirty="0"/>
          </a:p>
        </p:txBody>
      </p:sp>
      <p:sp>
        <p:nvSpPr>
          <p:cNvPr id="18" name="Text 12"/>
          <p:cNvSpPr/>
          <p:nvPr/>
        </p:nvSpPr>
        <p:spPr>
          <a:xfrm>
            <a:off x="6284993" y="3716871"/>
            <a:ext cx="209847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democratizar o acesso ao</a:t>
            </a:r>
            <a:endParaRPr lang="en-US" sz="1269" dirty="0"/>
          </a:p>
        </p:txBody>
      </p:sp>
      <p:sp>
        <p:nvSpPr>
          <p:cNvPr id="19" name="Text 13"/>
          <p:cNvSpPr/>
          <p:nvPr/>
        </p:nvSpPr>
        <p:spPr>
          <a:xfrm>
            <a:off x="6732370" y="3956884"/>
            <a:ext cx="120372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conhecimento.</a:t>
            </a:r>
            <a:endParaRPr lang="en-US" sz="1269" dirty="0"/>
          </a:p>
        </p:txBody>
      </p:sp>
      <p:sp>
        <p:nvSpPr>
          <p:cNvPr id="20" name="Text 14"/>
          <p:cNvSpPr/>
          <p:nvPr/>
        </p:nvSpPr>
        <p:spPr>
          <a:xfrm>
            <a:off x="571500" y="4752324"/>
            <a:ext cx="8001000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Democratizando o acesso ao conhecimento tecnológico</a:t>
            </a:r>
            <a:endParaRPr lang="en-US" sz="139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428625"/>
            <a:ext cx="410765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Visão Geral do Curso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1092994" y="1237655"/>
            <a:ext cx="571500" cy="571500"/>
          </a:xfrm>
          <a:prstGeom prst="rect">
            <a:avLst/>
          </a:prstGeom>
          <a:solidFill>
            <a:srgbClr val="4CAF50">
              <a:alpha val="10000"/>
            </a:srgbClr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09" y="1394817"/>
            <a:ext cx="321469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5844" y="1916311"/>
            <a:ext cx="6858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1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965299" y="2212777"/>
            <a:ext cx="826889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</a:t>
            </a:r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Python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2328863" y="1753958"/>
            <a:ext cx="2286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4" dirty="0"/>
          </a:p>
        </p:txBody>
      </p:sp>
      <p:sp>
        <p:nvSpPr>
          <p:cNvPr id="9" name="Shape 5"/>
          <p:cNvSpPr/>
          <p:nvPr/>
        </p:nvSpPr>
        <p:spPr>
          <a:xfrm>
            <a:off x="3221831" y="1237655"/>
            <a:ext cx="571500" cy="571500"/>
          </a:xfrm>
          <a:prstGeom prst="rect">
            <a:avLst/>
          </a:prstGeom>
          <a:solidFill>
            <a:srgbClr val="4CAF50">
              <a:alpha val="10000"/>
            </a:srgbClr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067" y="1394817"/>
            <a:ext cx="225028" cy="2571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64681" y="1916311"/>
            <a:ext cx="6858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2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3120033" y="2212777"/>
            <a:ext cx="775097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Manipulação</a:t>
            </a:r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Dados</a:t>
            </a:r>
            <a:endParaRPr lang="en-US" sz="942" dirty="0"/>
          </a:p>
        </p:txBody>
      </p:sp>
      <p:sp>
        <p:nvSpPr>
          <p:cNvPr id="13" name="Text 8"/>
          <p:cNvSpPr/>
          <p:nvPr/>
        </p:nvSpPr>
        <p:spPr>
          <a:xfrm>
            <a:off x="4457700" y="1753958"/>
            <a:ext cx="2286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4" dirty="0"/>
          </a:p>
        </p:txBody>
      </p:sp>
      <p:sp>
        <p:nvSpPr>
          <p:cNvPr id="14" name="Shape 9"/>
          <p:cNvSpPr/>
          <p:nvPr/>
        </p:nvSpPr>
        <p:spPr>
          <a:xfrm>
            <a:off x="5350669" y="1237655"/>
            <a:ext cx="571500" cy="571500"/>
          </a:xfrm>
          <a:prstGeom prst="rect">
            <a:avLst/>
          </a:prstGeom>
          <a:solidFill>
            <a:srgbClr val="4CAF50">
              <a:alpha val="10000"/>
            </a:srgbClr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831" y="1394817"/>
            <a:ext cx="257175" cy="2571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93519" y="1916311"/>
            <a:ext cx="6858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3</a:t>
            </a:r>
            <a:endParaRPr lang="en-US" sz="987" dirty="0"/>
          </a:p>
        </p:txBody>
      </p:sp>
      <p:sp>
        <p:nvSpPr>
          <p:cNvPr id="17" name="Text 11"/>
          <p:cNvSpPr/>
          <p:nvPr/>
        </p:nvSpPr>
        <p:spPr>
          <a:xfrm>
            <a:off x="5255121" y="2212777"/>
            <a:ext cx="762595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</a:t>
            </a:r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Dados</a:t>
            </a:r>
            <a:endParaRPr lang="en-US" sz="942" dirty="0"/>
          </a:p>
        </p:txBody>
      </p:sp>
      <p:sp>
        <p:nvSpPr>
          <p:cNvPr id="18" name="Text 12"/>
          <p:cNvSpPr/>
          <p:nvPr/>
        </p:nvSpPr>
        <p:spPr>
          <a:xfrm>
            <a:off x="6586538" y="1753958"/>
            <a:ext cx="2286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4" dirty="0"/>
          </a:p>
        </p:txBody>
      </p:sp>
      <p:sp>
        <p:nvSpPr>
          <p:cNvPr id="19" name="Shape 13"/>
          <p:cNvSpPr/>
          <p:nvPr/>
        </p:nvSpPr>
        <p:spPr>
          <a:xfrm>
            <a:off x="7479506" y="1237655"/>
            <a:ext cx="571500" cy="571500"/>
          </a:xfrm>
          <a:prstGeom prst="rect">
            <a:avLst/>
          </a:prstGeom>
          <a:solidFill>
            <a:srgbClr val="4CAF50">
              <a:alpha val="10000"/>
            </a:srgbClr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6669" y="1394817"/>
            <a:ext cx="257175" cy="2571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2356" y="1916311"/>
            <a:ext cx="6858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4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7404497" y="2212777"/>
            <a:ext cx="721519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</a:t>
            </a:r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Exploratória</a:t>
            </a:r>
            <a:endParaRPr lang="en-US" sz="942" dirty="0"/>
          </a:p>
        </p:txBody>
      </p:sp>
      <p:sp>
        <p:nvSpPr>
          <p:cNvPr id="23" name="Text 16"/>
          <p:cNvSpPr/>
          <p:nvPr/>
        </p:nvSpPr>
        <p:spPr>
          <a:xfrm>
            <a:off x="571500" y="3125725"/>
            <a:ext cx="8001000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⬇ Projeto Final Integrador</a:t>
            </a:r>
            <a:endParaRPr lang="en-US" sz="1397" dirty="0"/>
          </a:p>
        </p:txBody>
      </p:sp>
      <p:sp>
        <p:nvSpPr>
          <p:cNvPr id="24" name="Text 17"/>
          <p:cNvSpPr/>
          <p:nvPr/>
        </p:nvSpPr>
        <p:spPr>
          <a:xfrm>
            <a:off x="571500" y="3495415"/>
            <a:ext cx="80010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 prática com dataset real, integrando todos os conhecimentos adquiridos</a:t>
            </a:r>
            <a:endParaRPr lang="en-US" sz="115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428625"/>
            <a:ext cx="6572250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1 - Fundamentos de Python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09092"/>
            <a:ext cx="344197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Objetivo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678781"/>
            <a:ext cx="3441976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7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Estabelecer as bases sólidas da programação em Python, preparando os alunos para os desafios da Ciência de Dados.</a:t>
            </a:r>
            <a:endParaRPr lang="en-US" sz="1377" dirty="0"/>
          </a:p>
        </p:txBody>
      </p:sp>
      <p:sp>
        <p:nvSpPr>
          <p:cNvPr id="6" name="Text 3"/>
          <p:cNvSpPr/>
          <p:nvPr/>
        </p:nvSpPr>
        <p:spPr>
          <a:xfrm>
            <a:off x="571500" y="3078956"/>
            <a:ext cx="344197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Entregáveis</a:t>
            </a:r>
            <a:endParaRPr lang="en-US" sz="1397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550444"/>
            <a:ext cx="141591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0248" y="3462933"/>
            <a:ext cx="8365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Repositório GitHub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085445" y="3484364"/>
            <a:ext cx="1928031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1AFE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github.com/seu-usuario/modulo-1-python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32647"/>
            <a:ext cx="176306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4962" y="3945136"/>
            <a:ext cx="108724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funcional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2370832" y="3966567"/>
            <a:ext cx="1642644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1AFE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modulo-1-fundamentos.ipynb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13945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2969" y="4413052"/>
            <a:ext cx="12537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de exercícios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94337"/>
            <a:ext cx="214313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2969" y="4693444"/>
            <a:ext cx="175379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Pequeno dataset exemplo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4885013" y="1309092"/>
            <a:ext cx="3687487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Tópicos Abordados</a:t>
            </a:r>
            <a:endParaRPr lang="en-US" sz="1397" dirty="0"/>
          </a:p>
        </p:txBody>
      </p:sp>
      <p:sp>
        <p:nvSpPr>
          <p:cNvPr id="18" name="Text 11"/>
          <p:cNvSpPr/>
          <p:nvPr/>
        </p:nvSpPr>
        <p:spPr>
          <a:xfrm>
            <a:off x="4885013" y="1678781"/>
            <a:ext cx="31075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def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5302923" y="1678781"/>
            <a:ext cx="17609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Sintaxe_Basica():</a:t>
            </a:r>
            <a:endParaRPr lang="en-US" sz="1269" dirty="0"/>
          </a:p>
        </p:txBody>
      </p:sp>
      <p:sp>
        <p:nvSpPr>
          <p:cNvPr id="20" name="Text 13"/>
          <p:cNvSpPr/>
          <p:nvPr/>
        </p:nvSpPr>
        <p:spPr>
          <a:xfrm>
            <a:off x="4885013" y="1977033"/>
            <a:ext cx="3687487" cy="44001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Compreensão dos elementos fundamentais da linguagem, variáveis e tipos de dados.</a:t>
            </a:r>
            <a:endParaRPr lang="en-US" sz="1159" dirty="0"/>
          </a:p>
        </p:txBody>
      </p:sp>
      <p:sp>
        <p:nvSpPr>
          <p:cNvPr id="21" name="Text 14"/>
          <p:cNvSpPr/>
          <p:nvPr/>
        </p:nvSpPr>
        <p:spPr>
          <a:xfrm>
            <a:off x="4885013" y="2631356"/>
            <a:ext cx="20716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if</a:t>
            </a:r>
            <a:endParaRPr lang="en-US" sz="1193" dirty="0"/>
          </a:p>
        </p:txBody>
      </p:sp>
      <p:sp>
        <p:nvSpPr>
          <p:cNvPr id="22" name="Text 15"/>
          <p:cNvSpPr/>
          <p:nvPr/>
        </p:nvSpPr>
        <p:spPr>
          <a:xfrm>
            <a:off x="5199338" y="2631356"/>
            <a:ext cx="20716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Estruturas_Controle:</a:t>
            </a:r>
            <a:endParaRPr lang="en-US" sz="1269" dirty="0"/>
          </a:p>
        </p:txBody>
      </p:sp>
      <p:sp>
        <p:nvSpPr>
          <p:cNvPr id="23" name="Text 16"/>
          <p:cNvSpPr/>
          <p:nvPr/>
        </p:nvSpPr>
        <p:spPr>
          <a:xfrm>
            <a:off x="4885013" y="2929607"/>
            <a:ext cx="3687487" cy="66001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de lógica de programação com estruturas condicionais, repetição e estruturas de dados.</a:t>
            </a:r>
            <a:endParaRPr lang="en-US" sz="1159" dirty="0"/>
          </a:p>
        </p:txBody>
      </p:sp>
      <p:sp>
        <p:nvSpPr>
          <p:cNvPr id="24" name="Text 17"/>
          <p:cNvSpPr/>
          <p:nvPr/>
        </p:nvSpPr>
        <p:spPr>
          <a:xfrm>
            <a:off x="4885013" y="3803935"/>
            <a:ext cx="621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5613676" y="3803935"/>
            <a:ext cx="13465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Boas_Praticas</a:t>
            </a:r>
            <a:endParaRPr lang="en-US" sz="1269" dirty="0"/>
          </a:p>
        </p:txBody>
      </p:sp>
      <p:sp>
        <p:nvSpPr>
          <p:cNvPr id="26" name="Text 19"/>
          <p:cNvSpPr/>
          <p:nvPr/>
        </p:nvSpPr>
        <p:spPr>
          <a:xfrm>
            <a:off x="4885013" y="4102187"/>
            <a:ext cx="3687487" cy="44001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Técnicas para escrever código limpo, legível, eficiente e de fácil manutenção.</a:t>
            </a:r>
            <a:endParaRPr lang="en-US" sz="115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428625"/>
            <a:ext cx="6161484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1 - O que será ensinado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22462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1094780"/>
            <a:ext cx="1450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Sintaxe Básica</a:t>
            </a:r>
            <a:endParaRPr lang="en-US" sz="1193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1613"/>
            <a:ext cx="5715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14375" y="1428750"/>
            <a:ext cx="21913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Variáveis e atribuição de valores</a:t>
            </a:r>
            <a:endParaRPr lang="en-US" sz="10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30573"/>
            <a:ext cx="57150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14375" y="1687711"/>
            <a:ext cx="229850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Tipos de dados: int, float, str, bool</a:t>
            </a:r>
            <a:endParaRPr lang="en-US" sz="10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89534"/>
            <a:ext cx="57150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14375" y="1946672"/>
            <a:ext cx="223778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Operadores aritméticos e lógicos</a:t>
            </a:r>
            <a:endParaRPr lang="en-US" sz="10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48495"/>
            <a:ext cx="57150" cy="1143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14375" y="2205633"/>
            <a:ext cx="25503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e saída de dados (input/print)</a:t>
            </a:r>
            <a:endParaRPr lang="en-US" sz="10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122462"/>
            <a:ext cx="214313" cy="1714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000625" y="1094780"/>
            <a:ext cx="22788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Estruturas de Controle</a:t>
            </a:r>
            <a:endParaRPr lang="en-US" sz="1193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1471613"/>
            <a:ext cx="57150" cy="1143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857750" y="1428750"/>
            <a:ext cx="166806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Condicionais: if, elif, else</a:t>
            </a:r>
            <a:endParaRPr lang="en-US" sz="105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1730573"/>
            <a:ext cx="57150" cy="1143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4857750" y="1687711"/>
            <a:ext cx="12037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Loops: for e while</a:t>
            </a:r>
            <a:endParaRPr lang="en-US" sz="105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875" y="1989534"/>
            <a:ext cx="57150" cy="1143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4857750" y="1946672"/>
            <a:ext cx="154126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Break, continue e pass</a:t>
            </a:r>
            <a:endParaRPr lang="en-US" sz="1050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4875" y="2248495"/>
            <a:ext cx="57150" cy="11430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4857750" y="2205633"/>
            <a:ext cx="296644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Compreensão de listas (list comprehension)</a:t>
            </a:r>
            <a:endParaRPr lang="en-US" sz="1050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872680"/>
            <a:ext cx="150019" cy="17145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792956" y="2844998"/>
            <a:ext cx="19681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Estruturas de Dados</a:t>
            </a:r>
            <a:endParaRPr lang="en-US" sz="1193" dirty="0"/>
          </a:p>
        </p:txBody>
      </p:sp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221831"/>
            <a:ext cx="57150" cy="11430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714375" y="3178969"/>
            <a:ext cx="226456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Listas: criação, indexação, slicing</a:t>
            </a:r>
            <a:endParaRPr lang="en-US" sz="1050" dirty="0"/>
          </a:p>
        </p:txBody>
      </p:sp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480792"/>
            <a:ext cx="57150" cy="11430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714375" y="3437930"/>
            <a:ext cx="197346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Dicionários: chaves e valores</a:t>
            </a:r>
            <a:endParaRPr lang="en-US" sz="1050" dirty="0"/>
          </a:p>
        </p:txBody>
      </p:sp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739753"/>
            <a:ext cx="57150" cy="114300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714375" y="3696891"/>
            <a:ext cx="169128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Tuplas e conjuntos (sets)</a:t>
            </a:r>
            <a:endParaRPr lang="en-US" sz="1050" dirty="0"/>
          </a:p>
        </p:txBody>
      </p:sp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998714"/>
            <a:ext cx="57150" cy="114300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714375" y="3955852"/>
            <a:ext cx="23735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Métodos de manipulação de dados</a:t>
            </a:r>
            <a:endParaRPr lang="en-US" sz="1050" dirty="0"/>
          </a:p>
        </p:txBody>
      </p:sp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14875" y="2872680"/>
            <a:ext cx="192881" cy="171450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4979194" y="2844998"/>
            <a:ext cx="13465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Boas Práticas</a:t>
            </a:r>
            <a:endParaRPr lang="en-US" sz="1193" dirty="0"/>
          </a:p>
        </p:txBody>
      </p:sp>
      <p:pic>
        <p:nvPicPr>
          <p:cNvPr id="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14875" y="3221831"/>
            <a:ext cx="57150" cy="114300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4857750" y="3178969"/>
            <a:ext cx="16198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Estilo de código (PEP 8)</a:t>
            </a:r>
            <a:endParaRPr lang="en-US" sz="1050" dirty="0"/>
          </a:p>
        </p:txBody>
      </p:sp>
      <p:pic>
        <p:nvPicPr>
          <p:cNvPr id="3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14875" y="3480792"/>
            <a:ext cx="57150" cy="114300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4857750" y="3437930"/>
            <a:ext cx="203418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Comentários e documentação</a:t>
            </a:r>
            <a:endParaRPr lang="en-US" sz="1050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14875" y="3739753"/>
            <a:ext cx="57150" cy="114300"/>
          </a:xfrm>
          <a:prstGeom prst="rect">
            <a:avLst/>
          </a:prstGeom>
        </p:spPr>
      </p:pic>
      <p:sp>
        <p:nvSpPr>
          <p:cNvPr id="41" name="Text 19"/>
          <p:cNvSpPr/>
          <p:nvPr/>
        </p:nvSpPr>
        <p:spPr>
          <a:xfrm>
            <a:off x="4857750" y="3696891"/>
            <a:ext cx="22538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Nomes significativos de variáveis</a:t>
            </a:r>
            <a:endParaRPr lang="en-US" sz="1050" dirty="0"/>
          </a:p>
        </p:txBody>
      </p:sp>
      <p:pic>
        <p:nvPicPr>
          <p:cNvPr id="4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14875" y="3998714"/>
            <a:ext cx="57150" cy="114300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4857750" y="3955852"/>
            <a:ext cx="218063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Introdução a funções e módulos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428625"/>
            <a:ext cx="6366867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2 - Manipulação de Dados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66217"/>
            <a:ext cx="8001000" cy="8572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66217"/>
            <a:ext cx="28575" cy="85725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08212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0138" y="1380530"/>
            <a:ext cx="8286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Objetivo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857250" y="1714500"/>
            <a:ext cx="7429500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Capacitar os alunos a trabalhar com dados reais e prepará-los para análise.</a:t>
            </a:r>
            <a:endParaRPr lang="en-US" sz="1486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6899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388" y="2309217"/>
            <a:ext cx="7250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Tópicos</a:t>
            </a:r>
            <a:endParaRPr lang="en-US" sz="1269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86050"/>
            <a:ext cx="89297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7953" y="2643188"/>
            <a:ext cx="4346972" cy="483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Introdução ao Pandas: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leitura e exploração inicial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dados.</a:t>
            </a:r>
            <a:endParaRPr lang="en-US" sz="1269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12523"/>
            <a:ext cx="89297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7953" y="3269661"/>
            <a:ext cx="4346972" cy="483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Limpeza e Tratamento: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transformação e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preparação de dados para análise.</a:t>
            </a:r>
            <a:endParaRPr lang="en-US" sz="1269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38997"/>
            <a:ext cx="89297" cy="1428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67953" y="3896134"/>
            <a:ext cx="4346972" cy="483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Estatística Descritiva: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compreensão das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características fundamentais dos dados.</a:t>
            </a:r>
            <a:endParaRPr lang="en-US" sz="1269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3550" y="2336899"/>
            <a:ext cx="214313" cy="1714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829300" y="2309217"/>
            <a:ext cx="11394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Entregáveis</a:t>
            </a:r>
            <a:endParaRPr lang="en-US" sz="1269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3550" y="2686050"/>
            <a:ext cx="107156" cy="14287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757863" y="2643188"/>
            <a:ext cx="281463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Repositório GitHub</a:t>
            </a:r>
            <a:endParaRPr lang="en-US" sz="1269" dirty="0"/>
          </a:p>
        </p:txBody>
      </p:sp>
      <p:sp>
        <p:nvSpPr>
          <p:cNvPr id="21" name="Text 11"/>
          <p:cNvSpPr/>
          <p:nvPr/>
        </p:nvSpPr>
        <p:spPr>
          <a:xfrm>
            <a:off x="5757863" y="2883201"/>
            <a:ext cx="281463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github.com/SaulSantos1/modulo-2-pandas</a:t>
            </a:r>
            <a:endParaRPr lang="en-US" sz="1269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3550" y="3548965"/>
            <a:ext cx="142875" cy="14287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793581" y="3522176"/>
            <a:ext cx="175557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comentado</a:t>
            </a:r>
            <a:endParaRPr lang="en-US" sz="1269" dirty="0"/>
          </a:p>
        </p:txBody>
      </p:sp>
      <p:sp>
        <p:nvSpPr>
          <p:cNvPr id="24" name="Text 13"/>
          <p:cNvSpPr/>
          <p:nvPr/>
        </p:nvSpPr>
        <p:spPr>
          <a:xfrm>
            <a:off x="5793581" y="3781834"/>
            <a:ext cx="19966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61AFE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modulo-2-manipulacao.ipynb</a:t>
            </a:r>
            <a:endParaRPr lang="en-US" sz="942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3550" y="4147589"/>
            <a:ext cx="142875" cy="142875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793581" y="4104726"/>
            <a:ext cx="27789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 práticos com dados reais</a:t>
            </a:r>
            <a:endParaRPr lang="en-US" sz="126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428625"/>
            <a:ext cx="6161484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2 - O que será ensinado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22462"/>
            <a:ext cx="150019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2956" y="1094780"/>
            <a:ext cx="20716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Introdução ao Pandas</a:t>
            </a:r>
            <a:endParaRPr lang="en-US" sz="1193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1613"/>
            <a:ext cx="5715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14375" y="1428750"/>
            <a:ext cx="285928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DataFrames e Series: estruturas principais</a:t>
            </a:r>
            <a:endParaRPr lang="en-US" sz="10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30573"/>
            <a:ext cx="57150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14375" y="1687711"/>
            <a:ext cx="240744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de dados: CSV, Excel, JSON</a:t>
            </a:r>
            <a:endParaRPr lang="en-US" sz="10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89534"/>
            <a:ext cx="57150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14375" y="1946672"/>
            <a:ext cx="260568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Exploração inicial: head, info, describe</a:t>
            </a:r>
            <a:endParaRPr lang="en-US" sz="10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48495"/>
            <a:ext cx="57150" cy="1143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14375" y="2205633"/>
            <a:ext cx="206097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Indexação e seleção de dados</a:t>
            </a:r>
            <a:endParaRPr lang="en-US" sz="10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122462"/>
            <a:ext cx="214313" cy="1714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000625" y="1094780"/>
            <a:ext cx="16573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Limpeza de Dados</a:t>
            </a:r>
            <a:endParaRPr lang="en-US" sz="1193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1471613"/>
            <a:ext cx="57150" cy="1143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857750" y="1428750"/>
            <a:ext cx="260389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Tratamento de valores ausentes (NaN)</a:t>
            </a:r>
            <a:endParaRPr lang="en-US" sz="105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1730573"/>
            <a:ext cx="57150" cy="1143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4857750" y="1687711"/>
            <a:ext cx="158055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Remoção de duplicatas</a:t>
            </a:r>
            <a:endParaRPr lang="en-US" sz="105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875" y="1989534"/>
            <a:ext cx="57150" cy="1143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4857750" y="1946672"/>
            <a:ext cx="279142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Conversão e validação de tipos de dados</a:t>
            </a:r>
            <a:endParaRPr lang="en-US" sz="1050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4875" y="2248495"/>
            <a:ext cx="57150" cy="11430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4857750" y="2205633"/>
            <a:ext cx="229493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Detecção e tratamento de outliers</a:t>
            </a:r>
            <a:endParaRPr lang="en-US" sz="1050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872680"/>
            <a:ext cx="171450" cy="17145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814388" y="2844998"/>
            <a:ext cx="22788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Transformação de Dados</a:t>
            </a:r>
            <a:endParaRPr lang="en-US" sz="1193" dirty="0"/>
          </a:p>
        </p:txBody>
      </p:sp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221831"/>
            <a:ext cx="57150" cy="11430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714375" y="3178969"/>
            <a:ext cx="210204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Filtragem e seleção de colunas</a:t>
            </a:r>
            <a:endParaRPr lang="en-US" sz="1050" dirty="0"/>
          </a:p>
        </p:txBody>
      </p:sp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480792"/>
            <a:ext cx="57150" cy="11430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714375" y="3437930"/>
            <a:ext cx="32361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Operações de agregação (groupby, sum, mean)</a:t>
            </a:r>
            <a:endParaRPr lang="en-US" sz="1050" dirty="0"/>
          </a:p>
        </p:txBody>
      </p:sp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739753"/>
            <a:ext cx="57150" cy="114300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714375" y="3696891"/>
            <a:ext cx="190202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e join de DataFrames</a:t>
            </a:r>
            <a:endParaRPr lang="en-US" sz="1050" dirty="0"/>
          </a:p>
        </p:txBody>
      </p:sp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998714"/>
            <a:ext cx="57150" cy="114300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714375" y="3955852"/>
            <a:ext cx="216455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Pivot tables e reshape de dados</a:t>
            </a:r>
            <a:endParaRPr lang="en-US" sz="1050" dirty="0"/>
          </a:p>
        </p:txBody>
      </p:sp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14875" y="2872680"/>
            <a:ext cx="171450" cy="171450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4957763" y="2844998"/>
            <a:ext cx="22788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Estatística Descritiva</a:t>
            </a:r>
            <a:endParaRPr lang="en-US" sz="1193" dirty="0"/>
          </a:p>
        </p:txBody>
      </p:sp>
      <p:pic>
        <p:nvPicPr>
          <p:cNvPr id="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14875" y="3221831"/>
            <a:ext cx="57150" cy="114300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4857750" y="3178969"/>
            <a:ext cx="361116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Medidas de tendência central: média, mediana, moda</a:t>
            </a:r>
            <a:endParaRPr lang="en-US" sz="1050" dirty="0"/>
          </a:p>
        </p:txBody>
      </p:sp>
      <p:pic>
        <p:nvPicPr>
          <p:cNvPr id="3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14875" y="3480792"/>
            <a:ext cx="57150" cy="114300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4857750" y="3437930"/>
            <a:ext cx="323254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Medidas de dispersão: variância, desvio padrão</a:t>
            </a:r>
            <a:endParaRPr lang="en-US" sz="1050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14875" y="3739753"/>
            <a:ext cx="57150" cy="114300"/>
          </a:xfrm>
          <a:prstGeom prst="rect">
            <a:avLst/>
          </a:prstGeom>
        </p:spPr>
      </p:pic>
      <p:sp>
        <p:nvSpPr>
          <p:cNvPr id="41" name="Text 19"/>
          <p:cNvSpPr/>
          <p:nvPr/>
        </p:nvSpPr>
        <p:spPr>
          <a:xfrm>
            <a:off x="4857750" y="3696891"/>
            <a:ext cx="12787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Quartis e percentis</a:t>
            </a:r>
            <a:endParaRPr lang="en-US" sz="1050" dirty="0"/>
          </a:p>
        </p:txBody>
      </p:sp>
      <p:pic>
        <p:nvPicPr>
          <p:cNvPr id="4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14875" y="3998714"/>
            <a:ext cx="57150" cy="114300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4857750" y="3955852"/>
            <a:ext cx="27164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Correlação e covariância entre variáveis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428625"/>
            <a:ext cx="6572250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3 - Visualização de Dados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66217"/>
            <a:ext cx="8001000" cy="1001185"/>
          </a:xfrm>
          <a:prstGeom prst="rect">
            <a:avLst/>
          </a:prstGeom>
          <a:solidFill>
            <a:srgbClr val="4CAF50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66217"/>
            <a:ext cx="28575" cy="100118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309092"/>
            <a:ext cx="7572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OBJETIVO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85813" y="1607344"/>
            <a:ext cx="757237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 habilidades de comunicação visual de dados, transformando números em insights compreensíveis.</a:t>
            </a:r>
            <a:endParaRPr lang="en-US" sz="1486" dirty="0"/>
          </a:p>
        </p:txBody>
      </p:sp>
      <p:sp>
        <p:nvSpPr>
          <p:cNvPr id="8" name="Text 5"/>
          <p:cNvSpPr/>
          <p:nvPr/>
        </p:nvSpPr>
        <p:spPr>
          <a:xfrm>
            <a:off x="571500" y="2453153"/>
            <a:ext cx="51435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TÓPICOS ABORDADOS</a:t>
            </a:r>
            <a:endParaRPr lang="en-US" sz="119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87123"/>
            <a:ext cx="192881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1538" y="2767478"/>
            <a:ext cx="259139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7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 de visualização</a:t>
            </a:r>
            <a:endParaRPr lang="en-US" sz="1377" dirty="0"/>
          </a:p>
        </p:txBody>
      </p:sp>
      <p:sp>
        <p:nvSpPr>
          <p:cNvPr id="11" name="Text 7"/>
          <p:cNvSpPr/>
          <p:nvPr/>
        </p:nvSpPr>
        <p:spPr>
          <a:xfrm>
            <a:off x="871538" y="3047144"/>
            <a:ext cx="453092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Princípios e boas práticas na representação visual de informações.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25763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0106" y="3406118"/>
            <a:ext cx="3043238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7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com Matplotlib e Seaborn</a:t>
            </a:r>
            <a:endParaRPr lang="en-US" sz="1377" dirty="0"/>
          </a:p>
        </p:txBody>
      </p:sp>
      <p:sp>
        <p:nvSpPr>
          <p:cNvPr id="14" name="Text 9"/>
          <p:cNvSpPr/>
          <p:nvPr/>
        </p:nvSpPr>
        <p:spPr>
          <a:xfrm>
            <a:off x="850106" y="3685784"/>
            <a:ext cx="436304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Ferramentas principais para criação de visualizações estáticas 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850106" y="3921528"/>
            <a:ext cx="436304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estatísticas em Python.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00147"/>
            <a:ext cx="128588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7244" y="4280502"/>
            <a:ext cx="3157538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7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 visual e boas práticas</a:t>
            </a:r>
            <a:endParaRPr lang="en-US" sz="1377" dirty="0"/>
          </a:p>
        </p:txBody>
      </p:sp>
      <p:sp>
        <p:nvSpPr>
          <p:cNvPr id="18" name="Text 12"/>
          <p:cNvSpPr/>
          <p:nvPr/>
        </p:nvSpPr>
        <p:spPr>
          <a:xfrm>
            <a:off x="807244" y="4560168"/>
            <a:ext cx="43469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transformar dados complexos em insights visuais claros e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07244" y="4795912"/>
            <a:ext cx="43469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acionáveis.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000750" y="2453153"/>
            <a:ext cx="2571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ENTREGÁVEIS</a:t>
            </a:r>
            <a:endParaRPr lang="en-US" sz="1193" dirty="0"/>
          </a:p>
        </p:txBody>
      </p:sp>
      <p:sp>
        <p:nvSpPr>
          <p:cNvPr id="21" name="Shape 15"/>
          <p:cNvSpPr/>
          <p:nvPr/>
        </p:nvSpPr>
        <p:spPr>
          <a:xfrm>
            <a:off x="6000750" y="2894279"/>
            <a:ext cx="2571750" cy="60186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5" y="3037154"/>
            <a:ext cx="107156" cy="1428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57938" y="3001435"/>
            <a:ext cx="126623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Repositório GitHub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6357938" y="3196103"/>
            <a:ext cx="20716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1AFE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github.com/seu-usuario/modulo-3-viz</a:t>
            </a:r>
            <a:endParaRPr lang="en-US" sz="834" dirty="0"/>
          </a:p>
        </p:txBody>
      </p:sp>
      <p:sp>
        <p:nvSpPr>
          <p:cNvPr id="25" name="Shape 18"/>
          <p:cNvSpPr/>
          <p:nvPr/>
        </p:nvSpPr>
        <p:spPr>
          <a:xfrm>
            <a:off x="6000750" y="3639015"/>
            <a:ext cx="2571750" cy="45184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3781890"/>
            <a:ext cx="125016" cy="1428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75797" y="3746171"/>
            <a:ext cx="148054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estruturado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375797" y="3940839"/>
            <a:ext cx="18323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1AFE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modulo-3-visualizacao.ipynb</a:t>
            </a:r>
            <a:endParaRPr lang="en-US" sz="834" dirty="0"/>
          </a:p>
        </p:txBody>
      </p:sp>
      <p:sp>
        <p:nvSpPr>
          <p:cNvPr id="29" name="Shape 21"/>
          <p:cNvSpPr/>
          <p:nvPr/>
        </p:nvSpPr>
        <p:spPr>
          <a:xfrm>
            <a:off x="6000750" y="4233732"/>
            <a:ext cx="2571750" cy="4286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25" y="4376607"/>
            <a:ext cx="178594" cy="14287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29375" y="4340889"/>
            <a:ext cx="160555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 práticos reais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428625"/>
            <a:ext cx="6161484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3 - O que será ensinado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22462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4388" y="1094780"/>
            <a:ext cx="27967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Fundamentos de Visualização</a:t>
            </a:r>
            <a:endParaRPr lang="en-US" sz="1193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1613"/>
            <a:ext cx="5715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14375" y="1428750"/>
            <a:ext cx="241280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Teoria das cores e paletas de cores</a:t>
            </a:r>
            <a:endParaRPr lang="en-US" sz="10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30573"/>
            <a:ext cx="57150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14375" y="1687711"/>
            <a:ext cx="23002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Escalas e proporções em gráficos</a:t>
            </a:r>
            <a:endParaRPr lang="en-US" sz="10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89534"/>
            <a:ext cx="57150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14375" y="1946672"/>
            <a:ext cx="23967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Tipos de gráficos e quando usá-los</a:t>
            </a:r>
            <a:endParaRPr lang="en-US" sz="10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48495"/>
            <a:ext cx="57150" cy="1143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14375" y="2205633"/>
            <a:ext cx="17966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Princípios de design visual</a:t>
            </a:r>
            <a:endParaRPr lang="en-US" sz="10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122462"/>
            <a:ext cx="171450" cy="1714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957763" y="1094780"/>
            <a:ext cx="10358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Matplotlib</a:t>
            </a:r>
            <a:endParaRPr lang="en-US" sz="1193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1471613"/>
            <a:ext cx="57150" cy="1143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857750" y="1428750"/>
            <a:ext cx="311824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de gráficos básicos (line, bar, scatter)</a:t>
            </a:r>
            <a:endParaRPr lang="en-US" sz="105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1730573"/>
            <a:ext cx="57150" cy="1143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4857750" y="1687711"/>
            <a:ext cx="244316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Customização: cores, fontes, estilos</a:t>
            </a:r>
            <a:endParaRPr lang="en-US" sz="105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875" y="1989534"/>
            <a:ext cx="57150" cy="1143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4857750" y="1946672"/>
            <a:ext cx="195560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Subplots e múltiplos gráficos</a:t>
            </a:r>
            <a:endParaRPr lang="en-US" sz="1050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4875" y="2248495"/>
            <a:ext cx="57150" cy="11430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4857750" y="2205633"/>
            <a:ext cx="252531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Salvamento e exportação de gráficos</a:t>
            </a:r>
            <a:endParaRPr lang="en-US" sz="1050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872680"/>
            <a:ext cx="171450" cy="17145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814388" y="2844998"/>
            <a:ext cx="7250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Seaborn</a:t>
            </a:r>
            <a:endParaRPr lang="en-US" sz="1193" dirty="0"/>
          </a:p>
        </p:txBody>
      </p:sp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221831"/>
            <a:ext cx="57150" cy="11430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714375" y="3178969"/>
            <a:ext cx="21538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estatísticos avançados</a:t>
            </a:r>
            <a:endParaRPr lang="en-US" sz="1050" dirty="0"/>
          </a:p>
        </p:txBody>
      </p:sp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480792"/>
            <a:ext cx="57150" cy="11430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714375" y="3437930"/>
            <a:ext cx="169842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Paletas de cores e temas</a:t>
            </a:r>
            <a:endParaRPr lang="en-US" sz="1050" dirty="0"/>
          </a:p>
        </p:txBody>
      </p:sp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739753"/>
            <a:ext cx="57150" cy="114300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714375" y="3696891"/>
            <a:ext cx="215562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Heatmaps e correlações visuais</a:t>
            </a:r>
            <a:endParaRPr lang="en-US" sz="1050" dirty="0"/>
          </a:p>
        </p:txBody>
      </p:sp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998714"/>
            <a:ext cx="57150" cy="114300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714375" y="3955852"/>
            <a:ext cx="244494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com Pandas DataFrames</a:t>
            </a:r>
            <a:endParaRPr lang="en-US" sz="1050" dirty="0"/>
          </a:p>
        </p:txBody>
      </p:sp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14875" y="2872680"/>
            <a:ext cx="128588" cy="171450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4914900" y="2844998"/>
            <a:ext cx="13465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Boas Práticas</a:t>
            </a:r>
            <a:endParaRPr lang="en-US" sz="1193" dirty="0"/>
          </a:p>
        </p:txBody>
      </p:sp>
      <p:pic>
        <p:nvPicPr>
          <p:cNvPr id="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14875" y="3221831"/>
            <a:ext cx="57150" cy="114300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4857750" y="3178969"/>
            <a:ext cx="189845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Legibilidade e clareza visual</a:t>
            </a:r>
            <a:endParaRPr lang="en-US" sz="1050" dirty="0"/>
          </a:p>
        </p:txBody>
      </p:sp>
      <p:pic>
        <p:nvPicPr>
          <p:cNvPr id="3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14875" y="3480792"/>
            <a:ext cx="57150" cy="114300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4857750" y="3437930"/>
            <a:ext cx="20574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Acessibilidade para daltônicos</a:t>
            </a:r>
            <a:endParaRPr lang="en-US" sz="1050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14875" y="3739753"/>
            <a:ext cx="57150" cy="114300"/>
          </a:xfrm>
          <a:prstGeom prst="rect">
            <a:avLst/>
          </a:prstGeom>
        </p:spPr>
      </p:pic>
      <p:sp>
        <p:nvSpPr>
          <p:cNvPr id="41" name="Text 19"/>
          <p:cNvSpPr/>
          <p:nvPr/>
        </p:nvSpPr>
        <p:spPr>
          <a:xfrm>
            <a:off x="4857750" y="3696891"/>
            <a:ext cx="205561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Storytelling com dados visuais</a:t>
            </a:r>
            <a:endParaRPr lang="en-US" sz="1050" dirty="0"/>
          </a:p>
        </p:txBody>
      </p:sp>
      <p:pic>
        <p:nvPicPr>
          <p:cNvPr id="4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14875" y="3998714"/>
            <a:ext cx="57150" cy="114300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4857750" y="3955852"/>
            <a:ext cx="273784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Documentação e anotações em gráficos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617" y="428625"/>
            <a:ext cx="7409883" cy="903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4 - Análise Exploratória de Dados (EDA)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35013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8681" y="1503759"/>
            <a:ext cx="95726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Objetivo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571500" y="1852017"/>
            <a:ext cx="8001000" cy="257175"/>
          </a:xfrm>
          <a:prstGeom prst="rect">
            <a:avLst/>
          </a:prstGeom>
          <a:noFill/>
          <a:ln/>
        </p:spPr>
        <p:txBody>
          <a:bodyPr wrap="none" lIns="382651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Aplicar técnicas de análise para descobrir padrões e insights nos dados.</a:t>
            </a:r>
            <a:endParaRPr lang="en-US" sz="1269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83321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8681" y="2252067"/>
            <a:ext cx="837605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Tópicos</a:t>
            </a:r>
            <a:endParaRPr lang="en-US" sz="1397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2657475"/>
            <a:ext cx="71438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71563" y="2600325"/>
            <a:ext cx="75009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do problema e perguntas norteadoras: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formular questões relevantes sobre os 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dados.</a:t>
            </a:r>
            <a:endParaRPr lang="en-US" sz="1193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969" y="3257550"/>
            <a:ext cx="71438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71563" y="3200400"/>
            <a:ext cx="65008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Exploração e análise de dados: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investigação sistemática de padrões e relações.</a:t>
            </a:r>
            <a:endParaRPr lang="en-US" sz="1193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969" y="3600450"/>
            <a:ext cx="71438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71563" y="3543300"/>
            <a:ext cx="694908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e comunicação de insights: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transformar análises em conclusões acionáveis.</a:t>
            </a:r>
            <a:endParaRPr lang="en-US" sz="1193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74604"/>
            <a:ext cx="250031" cy="20002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28688" y="3943350"/>
            <a:ext cx="131623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Entregáveis</a:t>
            </a:r>
            <a:endParaRPr lang="en-US" sz="1397" dirty="0"/>
          </a:p>
        </p:txBody>
      </p:sp>
      <p:sp>
        <p:nvSpPr>
          <p:cNvPr id="17" name="Shape 8"/>
          <p:cNvSpPr/>
          <p:nvPr/>
        </p:nvSpPr>
        <p:spPr>
          <a:xfrm>
            <a:off x="892969" y="4291608"/>
            <a:ext cx="2618184" cy="528638"/>
          </a:xfrm>
          <a:prstGeom prst="rect">
            <a:avLst/>
          </a:prstGeom>
          <a:solidFill>
            <a:srgbClr val="4CAF50">
              <a:alpha val="10000"/>
            </a:srgbClr>
          </a:solidFill>
          <a:ln w="9144">
            <a:solidFill>
              <a:srgbClr val="4CAF50"/>
            </a:solidFill>
            <a:prstDash val="solid"/>
          </a:ln>
        </p:spPr>
      </p:sp>
      <p:sp>
        <p:nvSpPr>
          <p:cNvPr id="18" name="Text 9"/>
          <p:cNvSpPr/>
          <p:nvPr/>
        </p:nvSpPr>
        <p:spPr>
          <a:xfrm>
            <a:off x="1007269" y="4359473"/>
            <a:ext cx="138231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Repositório GitHub</a:t>
            </a:r>
            <a:endParaRPr lang="en-US" sz="942" dirty="0"/>
          </a:p>
        </p:txBody>
      </p:sp>
      <p:sp>
        <p:nvSpPr>
          <p:cNvPr id="19" name="Text 10"/>
          <p:cNvSpPr/>
          <p:nvPr/>
        </p:nvSpPr>
        <p:spPr>
          <a:xfrm>
            <a:off x="1007269" y="4577358"/>
            <a:ext cx="23752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1AFE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github.com/seu-usuario/modulo-4-eda</a:t>
            </a:r>
            <a:endParaRPr lang="en-US" sz="834" dirty="0"/>
          </a:p>
        </p:txBody>
      </p:sp>
      <p:sp>
        <p:nvSpPr>
          <p:cNvPr id="20" name="Shape 11"/>
          <p:cNvSpPr/>
          <p:nvPr/>
        </p:nvSpPr>
        <p:spPr>
          <a:xfrm>
            <a:off x="3582591" y="4291608"/>
            <a:ext cx="1464469" cy="528638"/>
          </a:xfrm>
          <a:prstGeom prst="rect">
            <a:avLst/>
          </a:prstGeom>
          <a:solidFill>
            <a:srgbClr val="4CAF50">
              <a:alpha val="10000"/>
            </a:srgbClr>
          </a:solidFill>
          <a:ln w="9144">
            <a:solidFill>
              <a:srgbClr val="4CAF50"/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3696891" y="4359473"/>
            <a:ext cx="92154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Notebook EDA</a:t>
            </a:r>
            <a:endParaRPr lang="en-US" sz="942" dirty="0"/>
          </a:p>
        </p:txBody>
      </p:sp>
      <p:sp>
        <p:nvSpPr>
          <p:cNvPr id="22" name="Text 13"/>
          <p:cNvSpPr/>
          <p:nvPr/>
        </p:nvSpPr>
        <p:spPr>
          <a:xfrm>
            <a:off x="3696891" y="4577358"/>
            <a:ext cx="12215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1AFE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modulo-4-eda.ipynb</a:t>
            </a:r>
            <a:endParaRPr lang="en-US" sz="834" dirty="0"/>
          </a:p>
        </p:txBody>
      </p:sp>
      <p:sp>
        <p:nvSpPr>
          <p:cNvPr id="23" name="Shape 14"/>
          <p:cNvSpPr/>
          <p:nvPr/>
        </p:nvSpPr>
        <p:spPr>
          <a:xfrm>
            <a:off x="5118497" y="4291608"/>
            <a:ext cx="1318022" cy="514350"/>
          </a:xfrm>
          <a:prstGeom prst="rect">
            <a:avLst/>
          </a:prstGeom>
          <a:solidFill>
            <a:srgbClr val="4CAF50">
              <a:alpha val="10000"/>
            </a:srgbClr>
          </a:solidFill>
          <a:ln w="9144">
            <a:solidFill>
              <a:srgbClr val="4CAF50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5118497" y="4291608"/>
            <a:ext cx="1318022" cy="5143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Análise guiada</a:t>
            </a:r>
            <a:endParaRPr lang="en-US" sz="942" dirty="0"/>
          </a:p>
        </p:txBody>
      </p:sp>
      <p:sp>
        <p:nvSpPr>
          <p:cNvPr id="25" name="Shape 16"/>
          <p:cNvSpPr/>
          <p:nvPr/>
        </p:nvSpPr>
        <p:spPr>
          <a:xfrm>
            <a:off x="6507956" y="4291608"/>
            <a:ext cx="1932384" cy="514350"/>
          </a:xfrm>
          <a:prstGeom prst="rect">
            <a:avLst/>
          </a:prstGeom>
          <a:solidFill>
            <a:srgbClr val="4CAF50">
              <a:alpha val="10000"/>
            </a:srgbClr>
          </a:solidFill>
          <a:ln w="9144">
            <a:solidFill>
              <a:srgbClr val="4CAF50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6507956" y="4291608"/>
            <a:ext cx="1932384" cy="5143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Storytelling com dados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428625"/>
            <a:ext cx="6161484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4 - O que será ensinado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22462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4388" y="1094780"/>
            <a:ext cx="2175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Definição do Problema</a:t>
            </a:r>
            <a:endParaRPr lang="en-US" sz="1193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1613"/>
            <a:ext cx="5715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14375" y="1428750"/>
            <a:ext cx="246280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Formulação de questões de negócio</a:t>
            </a:r>
            <a:endParaRPr lang="en-US" sz="10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30573"/>
            <a:ext cx="57150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14375" y="1687711"/>
            <a:ext cx="21895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de hipóteses testáveis</a:t>
            </a:r>
            <a:endParaRPr lang="en-US" sz="10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89534"/>
            <a:ext cx="57150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14375" y="1946672"/>
            <a:ext cx="27003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Estabelecimento de objetivos da análise</a:t>
            </a:r>
            <a:endParaRPr lang="en-US" sz="10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48495"/>
            <a:ext cx="57150" cy="1143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14375" y="2205633"/>
            <a:ext cx="246638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de variáveis relevantes</a:t>
            </a:r>
            <a:endParaRPr lang="en-US" sz="10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122462"/>
            <a:ext cx="171450" cy="1714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957763" y="1094780"/>
            <a:ext cx="19681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Exploração de Dados</a:t>
            </a:r>
            <a:endParaRPr lang="en-US" sz="1193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1471613"/>
            <a:ext cx="57150" cy="1143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857750" y="1428750"/>
            <a:ext cx="24592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distribuições de variáveis</a:t>
            </a:r>
            <a:endParaRPr lang="en-US" sz="105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1730573"/>
            <a:ext cx="57150" cy="1143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4857750" y="1687711"/>
            <a:ext cx="258782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de padrões e tendências</a:t>
            </a:r>
            <a:endParaRPr lang="en-US" sz="105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875" y="1989534"/>
            <a:ext cx="57150" cy="1143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4857750" y="1946672"/>
            <a:ext cx="25735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correlações entre variáveis</a:t>
            </a:r>
            <a:endParaRPr lang="en-US" sz="1050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4875" y="2248495"/>
            <a:ext cx="57150" cy="11430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4857750" y="2205633"/>
            <a:ext cx="22431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Detecção de anomalias e outliers</a:t>
            </a:r>
            <a:endParaRPr lang="en-US" sz="1050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872680"/>
            <a:ext cx="150019" cy="17145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792956" y="2844998"/>
            <a:ext cx="19681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Análise Aprofundada</a:t>
            </a:r>
            <a:endParaRPr lang="en-US" sz="1193" dirty="0"/>
          </a:p>
        </p:txBody>
      </p:sp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221831"/>
            <a:ext cx="57150" cy="11430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714375" y="3178969"/>
            <a:ext cx="181272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estatísticos básicos</a:t>
            </a:r>
            <a:endParaRPr lang="en-US" sz="1050" dirty="0"/>
          </a:p>
        </p:txBody>
      </p:sp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480792"/>
            <a:ext cx="57150" cy="11430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714375" y="3437930"/>
            <a:ext cx="232886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segmentação de dados</a:t>
            </a:r>
            <a:endParaRPr lang="en-US" sz="1050" dirty="0"/>
          </a:p>
        </p:txBody>
      </p:sp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739753"/>
            <a:ext cx="57150" cy="114300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714375" y="3696891"/>
            <a:ext cx="17734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 entre grupos</a:t>
            </a:r>
            <a:endParaRPr lang="en-US" sz="1050" dirty="0"/>
          </a:p>
        </p:txBody>
      </p:sp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998714"/>
            <a:ext cx="57150" cy="114300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714375" y="3955852"/>
            <a:ext cx="15644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de hipóteses</a:t>
            </a:r>
            <a:endParaRPr lang="en-US" sz="1050" dirty="0"/>
          </a:p>
        </p:txBody>
      </p:sp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14875" y="2872680"/>
            <a:ext cx="171450" cy="171450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4957763" y="2844998"/>
            <a:ext cx="23824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Comunicação de Insights</a:t>
            </a:r>
            <a:endParaRPr lang="en-US" sz="1193" dirty="0"/>
          </a:p>
        </p:txBody>
      </p:sp>
      <p:pic>
        <p:nvPicPr>
          <p:cNvPr id="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14875" y="3221831"/>
            <a:ext cx="57150" cy="114300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4857750" y="3178969"/>
            <a:ext cx="25503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de visualizações impactantes</a:t>
            </a:r>
            <a:endParaRPr lang="en-US" sz="1050" dirty="0"/>
          </a:p>
        </p:txBody>
      </p:sp>
      <p:pic>
        <p:nvPicPr>
          <p:cNvPr id="3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14875" y="3480792"/>
            <a:ext cx="57150" cy="114300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4857750" y="3437930"/>
            <a:ext cx="155198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Storytelling com dados</a:t>
            </a:r>
            <a:endParaRPr lang="en-US" sz="1050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14875" y="3739753"/>
            <a:ext cx="57150" cy="114300"/>
          </a:xfrm>
          <a:prstGeom prst="rect">
            <a:avLst/>
          </a:prstGeom>
        </p:spPr>
      </p:pic>
      <p:sp>
        <p:nvSpPr>
          <p:cNvPr id="41" name="Text 19"/>
          <p:cNvSpPr/>
          <p:nvPr/>
        </p:nvSpPr>
        <p:spPr>
          <a:xfrm>
            <a:off x="4857750" y="3696891"/>
            <a:ext cx="257889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Elaboração de relatórios e conclusões</a:t>
            </a:r>
            <a:endParaRPr lang="en-US" sz="1050" dirty="0"/>
          </a:p>
        </p:txBody>
      </p:sp>
      <p:pic>
        <p:nvPicPr>
          <p:cNvPr id="4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14875" y="3998714"/>
            <a:ext cx="57150" cy="114300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4857750" y="3955852"/>
            <a:ext cx="253067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Recomendações baseadas em dados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428625"/>
            <a:ext cx="4929188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Projeto Final Integrador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66217"/>
            <a:ext cx="8001000" cy="864031"/>
          </a:xfrm>
          <a:prstGeom prst="rect">
            <a:avLst/>
          </a:prstGeom>
          <a:solidFill>
            <a:srgbClr val="4CAF50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66217"/>
            <a:ext cx="28575" cy="864031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309092"/>
            <a:ext cx="7572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OBJETIVO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85813" y="1607344"/>
            <a:ext cx="7572375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Aplicar todos os conhecimentos adquiridos em um projeto prático completo.</a:t>
            </a:r>
            <a:endParaRPr lang="en-US" sz="1486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351717"/>
            <a:ext cx="150019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7269" y="2315998"/>
            <a:ext cx="75652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 prática com dataset real: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trabalhar com dados autênticos de um domínio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específico.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010337"/>
            <a:ext cx="192881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0131" y="2974618"/>
            <a:ext cx="698658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de análises e visualizações: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integrar técnicas de todos os módulos.</a:t>
            </a:r>
            <a:endParaRPr lang="en-US" sz="1269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428944"/>
            <a:ext cx="192881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0131" y="3393225"/>
            <a:ext cx="702052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Documentação e organização do projeto: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comunicar resultados de forma profissional.</a:t>
            </a:r>
            <a:endParaRPr lang="en-US" sz="1269" dirty="0"/>
          </a:p>
        </p:txBody>
      </p:sp>
      <p:sp>
        <p:nvSpPr>
          <p:cNvPr id="14" name="Text 8"/>
          <p:cNvSpPr/>
          <p:nvPr/>
        </p:nvSpPr>
        <p:spPr>
          <a:xfrm>
            <a:off x="571500" y="4069007"/>
            <a:ext cx="80010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Resultado: Portfólio prático demonstrando competências em análise de dados</a:t>
            </a:r>
            <a:endParaRPr lang="en-US" sz="139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0547" y="428625"/>
            <a:ext cx="7321953" cy="903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Estrutura e Organização do Repositório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48420"/>
            <a:ext cx="4747022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7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curso será disponibilizado em repositório público no</a:t>
            </a:r>
            <a:endParaRPr lang="en-US" sz="1377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522" y="1666280"/>
            <a:ext cx="180380" cy="1857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8902" y="1634133"/>
            <a:ext cx="77509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</a:t>
            </a:r>
            <a:endParaRPr lang="en-US" sz="1295" dirty="0"/>
          </a:p>
        </p:txBody>
      </p:sp>
      <p:sp>
        <p:nvSpPr>
          <p:cNvPr id="7" name="Text 3"/>
          <p:cNvSpPr/>
          <p:nvPr/>
        </p:nvSpPr>
        <p:spPr>
          <a:xfrm>
            <a:off x="6273998" y="1648420"/>
            <a:ext cx="225385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7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estrutura organizada</a:t>
            </a:r>
            <a:endParaRPr lang="en-US" sz="1377" dirty="0"/>
          </a:p>
        </p:txBody>
      </p:sp>
      <p:sp>
        <p:nvSpPr>
          <p:cNvPr id="8" name="Text 4"/>
          <p:cNvSpPr/>
          <p:nvPr/>
        </p:nvSpPr>
        <p:spPr>
          <a:xfrm>
            <a:off x="571500" y="1927027"/>
            <a:ext cx="867966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7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contendo:</a:t>
            </a:r>
            <a:endParaRPr lang="en-US" sz="1377" dirty="0"/>
          </a:p>
        </p:txBody>
      </p:sp>
      <p:sp>
        <p:nvSpPr>
          <p:cNvPr id="9" name="Shape 5"/>
          <p:cNvSpPr/>
          <p:nvPr/>
        </p:nvSpPr>
        <p:spPr>
          <a:xfrm>
            <a:off x="571500" y="2393156"/>
            <a:ext cx="8001000" cy="2578894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0" name="Shape 6"/>
          <p:cNvSpPr/>
          <p:nvPr/>
        </p:nvSpPr>
        <p:spPr>
          <a:xfrm>
            <a:off x="571500" y="2393156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Shape 7"/>
          <p:cNvSpPr/>
          <p:nvPr/>
        </p:nvSpPr>
        <p:spPr>
          <a:xfrm>
            <a:off x="8565356" y="2393156"/>
            <a:ext cx="7144" cy="257889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4964906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9"/>
          <p:cNvSpPr/>
          <p:nvPr/>
        </p:nvSpPr>
        <p:spPr>
          <a:xfrm>
            <a:off x="571500" y="2393156"/>
            <a:ext cx="28575" cy="2578894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632472"/>
            <a:ext cx="176808" cy="1571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1214" y="2607469"/>
            <a:ext cx="255567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curso-python-ciencia-dados/</a:t>
            </a:r>
            <a:endParaRPr lang="en-US" sz="1159" dirty="0"/>
          </a:p>
        </p:txBody>
      </p:sp>
      <p:sp>
        <p:nvSpPr>
          <p:cNvPr id="16" name="Text 11"/>
          <p:cNvSpPr/>
          <p:nvPr/>
        </p:nvSpPr>
        <p:spPr>
          <a:xfrm>
            <a:off x="857250" y="2921794"/>
            <a:ext cx="2829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├──</a:t>
            </a:r>
            <a:endParaRPr lang="en-US" sz="1159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310" y="2950369"/>
            <a:ext cx="157163" cy="1571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11629" y="2925366"/>
            <a:ext cx="66258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slides/</a:t>
            </a:r>
            <a:endParaRPr lang="en-US" sz="1159" dirty="0"/>
          </a:p>
        </p:txBody>
      </p:sp>
      <p:sp>
        <p:nvSpPr>
          <p:cNvPr id="19" name="Text 13"/>
          <p:cNvSpPr/>
          <p:nvPr/>
        </p:nvSpPr>
        <p:spPr>
          <a:xfrm>
            <a:off x="2424243" y="2942332"/>
            <a:ext cx="23449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Slides das aulas de cada módulo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857250" y="3243263"/>
            <a:ext cx="2829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├──</a:t>
            </a:r>
            <a:endParaRPr lang="en-US" sz="1159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310" y="3271838"/>
            <a:ext cx="157163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11629" y="3246834"/>
            <a:ext cx="94654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notebooks/</a:t>
            </a:r>
            <a:endParaRPr lang="en-US" sz="1159" dirty="0"/>
          </a:p>
        </p:txBody>
      </p:sp>
      <p:sp>
        <p:nvSpPr>
          <p:cNvPr id="23" name="Text 16"/>
          <p:cNvSpPr/>
          <p:nvPr/>
        </p:nvSpPr>
        <p:spPr>
          <a:xfrm>
            <a:off x="2708207" y="3263801"/>
            <a:ext cx="378440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Notebooks comentados e funcionais para cada tópico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857250" y="3564731"/>
            <a:ext cx="2829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├──</a:t>
            </a:r>
            <a:endParaRPr lang="en-US" sz="1159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310" y="3593306"/>
            <a:ext cx="157163" cy="15716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511629" y="3568303"/>
            <a:ext cx="104120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exercicios/</a:t>
            </a:r>
            <a:endParaRPr lang="en-US" sz="1159" dirty="0"/>
          </a:p>
        </p:txBody>
      </p:sp>
      <p:sp>
        <p:nvSpPr>
          <p:cNvPr id="27" name="Text 19"/>
          <p:cNvSpPr/>
          <p:nvPr/>
        </p:nvSpPr>
        <p:spPr>
          <a:xfrm>
            <a:off x="2802861" y="3585270"/>
            <a:ext cx="307002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Listas de exercícios com gabarito separado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57250" y="3886200"/>
            <a:ext cx="2829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├──</a:t>
            </a:r>
            <a:endParaRPr lang="en-US" sz="1159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310" y="3914775"/>
            <a:ext cx="157163" cy="15716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511629" y="3889772"/>
            <a:ext cx="8518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datasets/</a:t>
            </a:r>
            <a:endParaRPr lang="en-US" sz="1159" dirty="0"/>
          </a:p>
        </p:txBody>
      </p:sp>
      <p:sp>
        <p:nvSpPr>
          <p:cNvPr id="31" name="Text 22"/>
          <p:cNvSpPr/>
          <p:nvPr/>
        </p:nvSpPr>
        <p:spPr>
          <a:xfrm>
            <a:off x="2613552" y="3906738"/>
            <a:ext cx="322540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Datasets utilizados nos exemplos e exercícios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857250" y="4207669"/>
            <a:ext cx="2829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├──</a:t>
            </a:r>
            <a:endParaRPr lang="en-US" sz="1159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7310" y="4236244"/>
            <a:ext cx="117872" cy="15716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472338" y="4211241"/>
            <a:ext cx="26503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materiais_complementares.txt</a:t>
            </a:r>
            <a:endParaRPr lang="en-US" sz="1159" dirty="0"/>
          </a:p>
        </p:txBody>
      </p:sp>
      <p:sp>
        <p:nvSpPr>
          <p:cNvPr id="35" name="Text 25"/>
          <p:cNvSpPr/>
          <p:nvPr/>
        </p:nvSpPr>
        <p:spPr>
          <a:xfrm>
            <a:off x="4372701" y="4228207"/>
            <a:ext cx="255389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Links para vídeos e materiais extras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857250" y="4529138"/>
            <a:ext cx="2829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└──</a:t>
            </a:r>
            <a:endParaRPr lang="en-US" sz="1159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7310" y="4557713"/>
            <a:ext cx="196453" cy="157163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550919" y="4532709"/>
            <a:ext cx="8518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README.md</a:t>
            </a:r>
            <a:endParaRPr lang="en-US" sz="1159" dirty="0"/>
          </a:p>
        </p:txBody>
      </p:sp>
      <p:sp>
        <p:nvSpPr>
          <p:cNvPr id="39" name="Text 28"/>
          <p:cNvSpPr/>
          <p:nvPr/>
        </p:nvSpPr>
        <p:spPr>
          <a:xfrm>
            <a:off x="2652843" y="4549676"/>
            <a:ext cx="34754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Instruções de execução e organização do projeto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1625" y="285750"/>
            <a:ext cx="6000750" cy="9411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5182" b="1" dirty="0">
                <a:solidFill>
                  <a:srgbClr val="FFFFFF">
                    <a:alpha val="3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return success</a:t>
            </a:r>
            <a:endParaRPr lang="en-US" sz="5182" dirty="0"/>
          </a:p>
        </p:txBody>
      </p:sp>
      <p:sp>
        <p:nvSpPr>
          <p:cNvPr id="4" name="Text 1"/>
          <p:cNvSpPr/>
          <p:nvPr/>
        </p:nvSpPr>
        <p:spPr>
          <a:xfrm>
            <a:off x="2214563" y="3916561"/>
            <a:ext cx="4714875" cy="9411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5182" b="1" dirty="0">
                <a:solidFill>
                  <a:srgbClr val="FFFFFF">
                    <a:alpha val="3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sys.exit(0)</a:t>
            </a:r>
            <a:endParaRPr lang="en-US" sz="5182" dirty="0"/>
          </a:p>
        </p:txBody>
      </p:sp>
      <p:sp>
        <p:nvSpPr>
          <p:cNvPr id="5" name="Text 2"/>
          <p:cNvSpPr/>
          <p:nvPr/>
        </p:nvSpPr>
        <p:spPr>
          <a:xfrm>
            <a:off x="1000125" y="469702"/>
            <a:ext cx="7143750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&lt;/</a:t>
            </a:r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Conclusão e Próximos Passos </a:t>
            </a:r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000125" y="1278731"/>
            <a:ext cx="7143750" cy="1257300"/>
          </a:xfrm>
          <a:prstGeom prst="rect">
            <a:avLst/>
          </a:prstGeom>
          <a:noFill/>
          <a:ln/>
        </p:spPr>
        <p:txBody>
          <a:bodyPr wrap="square" lIns="0" tIns="0" rIns="0" bIns="255143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compromisso com a </a:t>
            </a:r>
            <a:pPr algn="ctr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educação tecnológica inclusiva</a:t>
            </a:r>
            <a:pPr algn="ctr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com a </a:t>
            </a:r>
            <a:pPr algn="ctr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formação de profissionais preparados para os desafios da era dos </a:t>
            </a:r>
            <a:pPr algn="ctr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dados.</a:t>
            </a:r>
            <a:endParaRPr lang="en-US" sz="1704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703" y="2893219"/>
            <a:ext cx="321469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31491" y="3286125"/>
            <a:ext cx="8518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Estrutura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1464469" y="3600450"/>
            <a:ext cx="17859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Planejamento sólido e organizado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406" y="2893219"/>
            <a:ext cx="357188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93381" y="3286125"/>
            <a:ext cx="7572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Conteúdo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3679031" y="3600450"/>
            <a:ext cx="17859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Prático, relevante e aplicado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69" y="2893219"/>
            <a:ext cx="357188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5962" y="3286125"/>
            <a:ext cx="104120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Metodologia</a:t>
            </a:r>
            <a:endParaRPr lang="en-US" sz="1090" dirty="0"/>
          </a:p>
        </p:txBody>
      </p:sp>
      <p:sp>
        <p:nvSpPr>
          <p:cNvPr id="15" name="Text 9"/>
          <p:cNvSpPr/>
          <p:nvPr/>
        </p:nvSpPr>
        <p:spPr>
          <a:xfrm>
            <a:off x="5893594" y="3600450"/>
            <a:ext cx="17859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Colaborativa e integradora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1000125" y="4429125"/>
            <a:ext cx="7143750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4CAF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Contribuindo para o desenvolvimento profissional e social</a:t>
            </a:r>
            <a:endParaRPr lang="en-US" sz="12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2026-03-11T20:31:37Z</dcterms:created>
  <dcterms:modified xsi:type="dcterms:W3CDTF">2026-03-11T20:31:37Z</dcterms:modified>
</cp:coreProperties>
</file>